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7" r:id="rId9"/>
    <p:sldId id="278" r:id="rId10"/>
    <p:sldId id="279" r:id="rId11"/>
    <p:sldId id="280" r:id="rId12"/>
    <p:sldId id="281" r:id="rId13"/>
    <p:sldId id="276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8DA"/>
    <a:srgbClr val="333333"/>
    <a:srgbClr val="1C1C1C"/>
    <a:srgbClr val="EEE5DA"/>
    <a:srgbClr val="938B85"/>
    <a:srgbClr val="5F5F5F"/>
    <a:srgbClr val="EBE6DA"/>
    <a:srgbClr val="1CC16F"/>
    <a:srgbClr val="47A99C"/>
    <a:srgbClr val="D8C2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3" autoAdjust="0"/>
    <p:restoredTop sz="93584" autoAdjust="0"/>
  </p:normalViewPr>
  <p:slideViewPr>
    <p:cSldViewPr snapToGrid="0">
      <p:cViewPr>
        <p:scale>
          <a:sx n="50" d="100"/>
          <a:sy n="50" d="100"/>
        </p:scale>
        <p:origin x="1734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bg1"/>
                </a:solidFill>
              </a:rPr>
              <a:t>Overhead % per configurazione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Overhead %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EE3-45D6-B2AC-5345C04BC028}"/>
              </c:ext>
            </c:extLst>
          </c:dPt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EE3-45D6-B2AC-5345C04BC028}"/>
              </c:ext>
            </c:extLst>
          </c:dPt>
          <c:dPt>
            <c:idx val="2"/>
            <c:invertIfNegative val="0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EE3-45D6-B2AC-5345C04BC028}"/>
              </c:ext>
            </c:extLst>
          </c:dPt>
          <c:dPt>
            <c:idx val="3"/>
            <c:invertIfNegative val="0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EE3-45D6-B2AC-5345C04BC028}"/>
              </c:ext>
            </c:extLst>
          </c:dPt>
          <c:dPt>
            <c:idx val="4"/>
            <c:invertIfNegative val="0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98B-461B-A440-7CCDA1CA43DE}"/>
              </c:ext>
            </c:extLst>
          </c:dPt>
          <c:cat>
            <c:strRef>
              <c:f>Sheet1!$A$2:$A$6</c:f>
              <c:strCache>
                <c:ptCount val="5"/>
                <c:pt idx="0">
                  <c:v>HARQ + integrità</c:v>
                </c:pt>
                <c:pt idx="1">
                  <c:v>HARQ</c:v>
                </c:pt>
                <c:pt idx="2">
                  <c:v>ARQ + integrità</c:v>
                </c:pt>
                <c:pt idx="3">
                  <c:v>ARQ + header esteso</c:v>
                </c:pt>
                <c:pt idx="4">
                  <c:v>ARQ base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0.15629999999999999</c:v>
                </c:pt>
                <c:pt idx="1">
                  <c:v>0.125</c:v>
                </c:pt>
                <c:pt idx="2">
                  <c:v>9.3799999999999994E-2</c:v>
                </c:pt>
                <c:pt idx="3">
                  <c:v>6.25E-2</c:v>
                </c:pt>
                <c:pt idx="4">
                  <c:v>3.1300000000000001E-2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8B-461B-A440-7CCDA1CA4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1232058576"/>
        <c:axId val="1573164400"/>
      </c:barChart>
      <c:catAx>
        <c:axId val="12320585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3164400"/>
        <c:crosses val="autoZero"/>
        <c:auto val="1"/>
        <c:lblAlgn val="ctr"/>
        <c:lblOffset val="100"/>
        <c:noMultiLvlLbl val="0"/>
      </c:catAx>
      <c:valAx>
        <c:axId val="1573164400"/>
        <c:scaling>
          <c:orientation val="minMax"/>
          <c:max val="0.2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2058576"/>
        <c:crosses val="autoZero"/>
        <c:crossBetween val="between"/>
        <c:majorUnit val="5.000000000000001E-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ln w="3175"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r>
              <a:rPr lang="it-IT" sz="2000" b="1" baseline="0" dirty="0">
                <a:latin typeface="Segoe UI" panose="020B0502040204020203" pitchFamily="34" charset="0"/>
                <a:cs typeface="Segoe UI" panose="020B0502040204020203" pitchFamily="34" charset="0"/>
              </a:rPr>
              <a:t>Percentuale di ricezione</a:t>
            </a:r>
          </a:p>
        </c:rich>
      </c:tx>
      <c:layout>
        <c:manualLayout>
          <c:xMode val="edge"/>
          <c:yMode val="edge"/>
          <c:x val="0.31229744379778612"/>
          <c:y val="4.93039688389799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ln w="3175">
                <a:noFill/>
              </a:ln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793036060709803"/>
          <c:y val="0.21757568293404753"/>
          <c:w val="0.79572905968275709"/>
          <c:h val="0.4598088648616853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Perfetta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ECC</c:v>
                </c:pt>
                <c:pt idx="1">
                  <c:v>No ECC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3C-4D9A-96AD-68113CC520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errori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ECC</c:v>
                </c:pt>
                <c:pt idx="1">
                  <c:v>No ECC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3C-4D9A-96AD-68113CC520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32058576"/>
        <c:axId val="1573164400"/>
      </c:barChart>
      <c:catAx>
        <c:axId val="12320585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ln w="3175"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573164400"/>
        <c:crosses val="autoZero"/>
        <c:auto val="1"/>
        <c:lblAlgn val="ctr"/>
        <c:lblOffset val="100"/>
        <c:noMultiLvlLbl val="0"/>
      </c:catAx>
      <c:valAx>
        <c:axId val="15731644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 w="3175"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232058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ln w="3175"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ln w="3175"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31432856898322492"/>
          <c:y val="0.84335925795890909"/>
          <c:w val="0.38030340636768228"/>
          <c:h val="9.36472898356417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ln w="3175">
                <a:noFill/>
              </a:ln>
              <a:solidFill>
                <a:schemeClr val="bg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 anchor="t" anchorCtr="0"/>
    <a:lstStyle/>
    <a:p>
      <a:pPr>
        <a:defRPr>
          <a:ln w="3175">
            <a:noFill/>
          </a:ln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2C5EEC-1B46-4E73-8DF1-B4BF1CA879B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E128D1-745B-4091-B15C-0BEEB92D717B}">
      <dgm:prSet/>
      <dgm:spPr/>
      <dgm:t>
        <a:bodyPr/>
        <a:lstStyle/>
        <a:p>
          <a:r>
            <a:rPr lang="en-US" dirty="0" err="1">
              <a:latin typeface="SF Pro Text" pitchFamily="50" charset="0"/>
              <a:ea typeface="SF Pro Text" pitchFamily="50" charset="0"/>
              <a:cs typeface="SF Pro Text" pitchFamily="50" charset="0"/>
            </a:rPr>
            <a:t>Telemetria</a:t>
          </a:r>
          <a:endParaRPr lang="en-US" dirty="0">
            <a:latin typeface="SF Pro Text" pitchFamily="50" charset="0"/>
            <a:ea typeface="SF Pro Text" pitchFamily="50" charset="0"/>
            <a:cs typeface="SF Pro Text" pitchFamily="50" charset="0"/>
          </a:endParaRPr>
        </a:p>
      </dgm:t>
    </dgm:pt>
    <dgm:pt modelId="{3824D2E1-9403-4B01-BA3B-D31D47B15F1A}" type="parTrans" cxnId="{C79BEE06-E470-4048-9B58-D8BCBD92DA15}">
      <dgm:prSet/>
      <dgm:spPr/>
      <dgm:t>
        <a:bodyPr/>
        <a:lstStyle/>
        <a:p>
          <a:endParaRPr lang="en-US"/>
        </a:p>
      </dgm:t>
    </dgm:pt>
    <dgm:pt modelId="{D5B50160-FDFF-4F2D-BDEA-1829FA7B8B4D}" type="sibTrans" cxnId="{C79BEE06-E470-4048-9B58-D8BCBD92DA15}">
      <dgm:prSet/>
      <dgm:spPr/>
      <dgm:t>
        <a:bodyPr/>
        <a:lstStyle/>
        <a:p>
          <a:endParaRPr lang="en-US"/>
        </a:p>
      </dgm:t>
    </dgm:pt>
    <dgm:pt modelId="{3919A078-4E47-4352-B69A-CDC4069BB934}">
      <dgm:prSet/>
      <dgm:spPr/>
      <dgm:t>
        <a:bodyPr/>
        <a:lstStyle/>
        <a:p>
          <a:r>
            <a:rPr lang="en-US" dirty="0">
              <a:latin typeface="SF Pro Text" pitchFamily="50" charset="0"/>
              <a:ea typeface="SF Pro Text" pitchFamily="50" charset="0"/>
              <a:cs typeface="SF Pro Text" pitchFamily="50" charset="0"/>
            </a:rPr>
            <a:t>Streaming video/audio</a:t>
          </a:r>
        </a:p>
      </dgm:t>
    </dgm:pt>
    <dgm:pt modelId="{56D6BBA9-0DFF-4CA4-936C-FF50C0AA7B3F}" type="parTrans" cxnId="{EE93AA42-6C3C-484A-AEF8-955306B9A3B8}">
      <dgm:prSet/>
      <dgm:spPr/>
      <dgm:t>
        <a:bodyPr/>
        <a:lstStyle/>
        <a:p>
          <a:endParaRPr lang="en-US"/>
        </a:p>
      </dgm:t>
    </dgm:pt>
    <dgm:pt modelId="{968FEA2D-9433-4AEB-A7DA-7BABC7ED05CC}" type="sibTrans" cxnId="{EE93AA42-6C3C-484A-AEF8-955306B9A3B8}">
      <dgm:prSet/>
      <dgm:spPr/>
      <dgm:t>
        <a:bodyPr/>
        <a:lstStyle/>
        <a:p>
          <a:endParaRPr lang="en-US"/>
        </a:p>
      </dgm:t>
    </dgm:pt>
    <dgm:pt modelId="{08E05D48-1AA6-4528-B383-D540C387211E}" type="pres">
      <dgm:prSet presAssocID="{E82C5EEC-1B46-4E73-8DF1-B4BF1CA879B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C798FC9-21D5-436C-95D3-000877DD27CA}" type="pres">
      <dgm:prSet presAssocID="{76E128D1-745B-4091-B15C-0BEEB92D717B}" presName="hierRoot1" presStyleCnt="0"/>
      <dgm:spPr/>
    </dgm:pt>
    <dgm:pt modelId="{D5F21339-3E3B-44DB-A235-93154E052153}" type="pres">
      <dgm:prSet presAssocID="{76E128D1-745B-4091-B15C-0BEEB92D717B}" presName="composite" presStyleCnt="0"/>
      <dgm:spPr/>
    </dgm:pt>
    <dgm:pt modelId="{90F045C1-4BE5-4FF1-8D16-CCA7CA2DD2F3}" type="pres">
      <dgm:prSet presAssocID="{76E128D1-745B-4091-B15C-0BEEB92D717B}" presName="background" presStyleLbl="node0" presStyleIdx="0" presStyleCnt="2"/>
      <dgm:spPr/>
    </dgm:pt>
    <dgm:pt modelId="{9680BA96-174B-44B2-B7CD-13189F90EAB2}" type="pres">
      <dgm:prSet presAssocID="{76E128D1-745B-4091-B15C-0BEEB92D717B}" presName="text" presStyleLbl="fgAcc0" presStyleIdx="0" presStyleCnt="2">
        <dgm:presLayoutVars>
          <dgm:chPref val="3"/>
        </dgm:presLayoutVars>
      </dgm:prSet>
      <dgm:spPr/>
    </dgm:pt>
    <dgm:pt modelId="{CB75FB49-9207-4ED7-A9C4-70580EF6A92A}" type="pres">
      <dgm:prSet presAssocID="{76E128D1-745B-4091-B15C-0BEEB92D717B}" presName="hierChild2" presStyleCnt="0"/>
      <dgm:spPr/>
    </dgm:pt>
    <dgm:pt modelId="{05E1C4E4-2A13-4AEE-AA36-DCA72709B273}" type="pres">
      <dgm:prSet presAssocID="{3919A078-4E47-4352-B69A-CDC4069BB934}" presName="hierRoot1" presStyleCnt="0"/>
      <dgm:spPr/>
    </dgm:pt>
    <dgm:pt modelId="{FD68D0C2-91AD-494E-AD25-8637D926CB45}" type="pres">
      <dgm:prSet presAssocID="{3919A078-4E47-4352-B69A-CDC4069BB934}" presName="composite" presStyleCnt="0"/>
      <dgm:spPr/>
    </dgm:pt>
    <dgm:pt modelId="{B12DB664-7D2A-43FD-8D7F-0D56CC7A9D75}" type="pres">
      <dgm:prSet presAssocID="{3919A078-4E47-4352-B69A-CDC4069BB934}" presName="background" presStyleLbl="node0" presStyleIdx="1" presStyleCnt="2"/>
      <dgm:spPr/>
    </dgm:pt>
    <dgm:pt modelId="{449A428B-F0A5-484D-B853-68511F52F555}" type="pres">
      <dgm:prSet presAssocID="{3919A078-4E47-4352-B69A-CDC4069BB934}" presName="text" presStyleLbl="fgAcc0" presStyleIdx="1" presStyleCnt="2">
        <dgm:presLayoutVars>
          <dgm:chPref val="3"/>
        </dgm:presLayoutVars>
      </dgm:prSet>
      <dgm:spPr/>
    </dgm:pt>
    <dgm:pt modelId="{577F76A2-61B9-45C0-89BB-2B5EDC191E42}" type="pres">
      <dgm:prSet presAssocID="{3919A078-4E47-4352-B69A-CDC4069BB934}" presName="hierChild2" presStyleCnt="0"/>
      <dgm:spPr/>
    </dgm:pt>
  </dgm:ptLst>
  <dgm:cxnLst>
    <dgm:cxn modelId="{670D7903-8200-4C3E-B2B9-09CEC2E0AA91}" type="presOf" srcId="{76E128D1-745B-4091-B15C-0BEEB92D717B}" destId="{9680BA96-174B-44B2-B7CD-13189F90EAB2}" srcOrd="0" destOrd="0" presId="urn:microsoft.com/office/officeart/2005/8/layout/hierarchy1"/>
    <dgm:cxn modelId="{C79BEE06-E470-4048-9B58-D8BCBD92DA15}" srcId="{E82C5EEC-1B46-4E73-8DF1-B4BF1CA879B6}" destId="{76E128D1-745B-4091-B15C-0BEEB92D717B}" srcOrd="0" destOrd="0" parTransId="{3824D2E1-9403-4B01-BA3B-D31D47B15F1A}" sibTransId="{D5B50160-FDFF-4F2D-BDEA-1829FA7B8B4D}"/>
    <dgm:cxn modelId="{EE93AA42-6C3C-484A-AEF8-955306B9A3B8}" srcId="{E82C5EEC-1B46-4E73-8DF1-B4BF1CA879B6}" destId="{3919A078-4E47-4352-B69A-CDC4069BB934}" srcOrd="1" destOrd="0" parTransId="{56D6BBA9-0DFF-4CA4-936C-FF50C0AA7B3F}" sibTransId="{968FEA2D-9433-4AEB-A7DA-7BABC7ED05CC}"/>
    <dgm:cxn modelId="{F0AB1DDD-AE3A-4588-A7F6-5457A1363F82}" type="presOf" srcId="{3919A078-4E47-4352-B69A-CDC4069BB934}" destId="{449A428B-F0A5-484D-B853-68511F52F555}" srcOrd="0" destOrd="0" presId="urn:microsoft.com/office/officeart/2005/8/layout/hierarchy1"/>
    <dgm:cxn modelId="{013B04FD-798B-4A31-9F76-FD0F089945D6}" type="presOf" srcId="{E82C5EEC-1B46-4E73-8DF1-B4BF1CA879B6}" destId="{08E05D48-1AA6-4528-B383-D540C387211E}" srcOrd="0" destOrd="0" presId="urn:microsoft.com/office/officeart/2005/8/layout/hierarchy1"/>
    <dgm:cxn modelId="{CF5E432C-19CB-4F98-98CC-81DDCCF23513}" type="presParOf" srcId="{08E05D48-1AA6-4528-B383-D540C387211E}" destId="{0C798FC9-21D5-436C-95D3-000877DD27CA}" srcOrd="0" destOrd="0" presId="urn:microsoft.com/office/officeart/2005/8/layout/hierarchy1"/>
    <dgm:cxn modelId="{6FE415BA-BA07-49A8-A2EE-781F97D7F04E}" type="presParOf" srcId="{0C798FC9-21D5-436C-95D3-000877DD27CA}" destId="{D5F21339-3E3B-44DB-A235-93154E052153}" srcOrd="0" destOrd="0" presId="urn:microsoft.com/office/officeart/2005/8/layout/hierarchy1"/>
    <dgm:cxn modelId="{BD8A9C3D-99D0-41A0-BA31-FC0CE0373382}" type="presParOf" srcId="{D5F21339-3E3B-44DB-A235-93154E052153}" destId="{90F045C1-4BE5-4FF1-8D16-CCA7CA2DD2F3}" srcOrd="0" destOrd="0" presId="urn:microsoft.com/office/officeart/2005/8/layout/hierarchy1"/>
    <dgm:cxn modelId="{05319456-DC8E-46B6-B50F-3E88E709DC92}" type="presParOf" srcId="{D5F21339-3E3B-44DB-A235-93154E052153}" destId="{9680BA96-174B-44B2-B7CD-13189F90EAB2}" srcOrd="1" destOrd="0" presId="urn:microsoft.com/office/officeart/2005/8/layout/hierarchy1"/>
    <dgm:cxn modelId="{B7FCD24C-1E7D-4F48-8769-4660675978BA}" type="presParOf" srcId="{0C798FC9-21D5-436C-95D3-000877DD27CA}" destId="{CB75FB49-9207-4ED7-A9C4-70580EF6A92A}" srcOrd="1" destOrd="0" presId="urn:microsoft.com/office/officeart/2005/8/layout/hierarchy1"/>
    <dgm:cxn modelId="{DE333536-7312-4058-BABE-81026BFC33DE}" type="presParOf" srcId="{08E05D48-1AA6-4528-B383-D540C387211E}" destId="{05E1C4E4-2A13-4AEE-AA36-DCA72709B273}" srcOrd="1" destOrd="0" presId="urn:microsoft.com/office/officeart/2005/8/layout/hierarchy1"/>
    <dgm:cxn modelId="{9DD8E8F3-B5A1-49F2-8FC2-077DDBE48E63}" type="presParOf" srcId="{05E1C4E4-2A13-4AEE-AA36-DCA72709B273}" destId="{FD68D0C2-91AD-494E-AD25-8637D926CB45}" srcOrd="0" destOrd="0" presId="urn:microsoft.com/office/officeart/2005/8/layout/hierarchy1"/>
    <dgm:cxn modelId="{B07D1B68-DA0A-4038-B904-980429ABC134}" type="presParOf" srcId="{FD68D0C2-91AD-494E-AD25-8637D926CB45}" destId="{B12DB664-7D2A-43FD-8D7F-0D56CC7A9D75}" srcOrd="0" destOrd="0" presId="urn:microsoft.com/office/officeart/2005/8/layout/hierarchy1"/>
    <dgm:cxn modelId="{B004C6F0-9377-4FFA-8CB0-A0E8ECFDF83F}" type="presParOf" srcId="{FD68D0C2-91AD-494E-AD25-8637D926CB45}" destId="{449A428B-F0A5-484D-B853-68511F52F555}" srcOrd="1" destOrd="0" presId="urn:microsoft.com/office/officeart/2005/8/layout/hierarchy1"/>
    <dgm:cxn modelId="{22C133C3-E38A-4B31-ACB3-3E97EC42D077}" type="presParOf" srcId="{05E1C4E4-2A13-4AEE-AA36-DCA72709B273}" destId="{577F76A2-61B9-45C0-89BB-2B5EDC191E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045C1-4BE5-4FF1-8D16-CCA7CA2DD2F3}">
      <dsp:nvSpPr>
        <dsp:cNvPr id="0" name=""/>
        <dsp:cNvSpPr/>
      </dsp:nvSpPr>
      <dsp:spPr>
        <a:xfrm>
          <a:off x="1329" y="141566"/>
          <a:ext cx="4666401" cy="296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0BA96-174B-44B2-B7CD-13189F90EAB2}">
      <dsp:nvSpPr>
        <dsp:cNvPr id="0" name=""/>
        <dsp:cNvSpPr/>
      </dsp:nvSpPr>
      <dsp:spPr>
        <a:xfrm>
          <a:off x="519818" y="634131"/>
          <a:ext cx="4666401" cy="2963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 dirty="0" err="1">
              <a:latin typeface="SF Pro Text" pitchFamily="50" charset="0"/>
              <a:ea typeface="SF Pro Text" pitchFamily="50" charset="0"/>
              <a:cs typeface="SF Pro Text" pitchFamily="50" charset="0"/>
            </a:rPr>
            <a:t>Telemetria</a:t>
          </a:r>
          <a:endParaRPr lang="en-US" sz="6400" kern="1200" dirty="0">
            <a:latin typeface="SF Pro Text" pitchFamily="50" charset="0"/>
            <a:ea typeface="SF Pro Text" pitchFamily="50" charset="0"/>
            <a:cs typeface="SF Pro Text" pitchFamily="50" charset="0"/>
          </a:endParaRPr>
        </a:p>
      </dsp:txBody>
      <dsp:txXfrm>
        <a:off x="606606" y="720919"/>
        <a:ext cx="4492825" cy="2789588"/>
      </dsp:txXfrm>
    </dsp:sp>
    <dsp:sp modelId="{B12DB664-7D2A-43FD-8D7F-0D56CC7A9D75}">
      <dsp:nvSpPr>
        <dsp:cNvPr id="0" name=""/>
        <dsp:cNvSpPr/>
      </dsp:nvSpPr>
      <dsp:spPr>
        <a:xfrm>
          <a:off x="5704709" y="141566"/>
          <a:ext cx="4666401" cy="296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A428B-F0A5-484D-B853-68511F52F555}">
      <dsp:nvSpPr>
        <dsp:cNvPr id="0" name=""/>
        <dsp:cNvSpPr/>
      </dsp:nvSpPr>
      <dsp:spPr>
        <a:xfrm>
          <a:off x="6223198" y="634131"/>
          <a:ext cx="4666401" cy="2963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 dirty="0">
              <a:latin typeface="SF Pro Text" pitchFamily="50" charset="0"/>
              <a:ea typeface="SF Pro Text" pitchFamily="50" charset="0"/>
              <a:cs typeface="SF Pro Text" pitchFamily="50" charset="0"/>
            </a:rPr>
            <a:t>Streaming video/audio</a:t>
          </a:r>
        </a:p>
      </dsp:txBody>
      <dsp:txXfrm>
        <a:off x="6309986" y="720919"/>
        <a:ext cx="4492825" cy="2789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5D24B-92D0-4A2D-BAD1-D26581BA9D2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57FD6-66AD-45DC-9E29-65ACF5DD8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52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57FD6-66AD-45DC-9E29-65ACF5DD8A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39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57FD6-66AD-45DC-9E29-65ACF5DD8A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22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57FD6-66AD-45DC-9E29-65ACF5DD8A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87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57FD6-66AD-45DC-9E29-65ACF5DD8A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89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4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35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04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64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8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9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8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99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910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38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5.png"/><Relationship Id="rId3" Type="http://schemas.microsoft.com/office/2007/relationships/hdphoto" Target="../media/hdphoto4.wdp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10.png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microsoft.com/office/2007/relationships/hdphoto" Target="../media/hdphoto2.wdp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2.svg"/><Relationship Id="rId4" Type="http://schemas.microsoft.com/office/2007/relationships/hdphoto" Target="../media/hdphoto4.wdp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svg"/><Relationship Id="rId3" Type="http://schemas.openxmlformats.org/officeDocument/2006/relationships/image" Target="../media/image20.pn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microsoft.com/office/2007/relationships/hdphoto" Target="../media/hdphoto4.wdp"/><Relationship Id="rId10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microsoft.com/office/2007/relationships/hdphoto" Target="../media/hdphoto6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chart" Target="../charts/chart2.xml"/><Relationship Id="rId4" Type="http://schemas.microsoft.com/office/2007/relationships/hdphoto" Target="../media/hdphoto6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microsoft.com/office/2007/relationships/hdphoto" Target="../media/hdphoto4.wdp"/><Relationship Id="rId7" Type="http://schemas.openxmlformats.org/officeDocument/2006/relationships/image" Target="../media/image3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microsoft.com/office/2007/relationships/hdphoto" Target="../media/hdphoto7.wdp"/><Relationship Id="rId10" Type="http://schemas.openxmlformats.org/officeDocument/2006/relationships/image" Target="../media/image36.sv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microsoft.com/office/2007/relationships/hdphoto" Target="../media/hdphoto4.wdp"/><Relationship Id="rId7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9E538-1BD4-9F7A-988A-CAE947816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4520" y="914400"/>
            <a:ext cx="10020496" cy="11177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4600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Architettura</a:t>
            </a:r>
            <a:r>
              <a:rPr lang="en-US" sz="4600" dirty="0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Software per Ponti Radio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290AE-8F76-FA63-A103-6A8D52F4C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336" y="2590217"/>
            <a:ext cx="9393865" cy="985086"/>
          </a:xfrm>
        </p:spPr>
        <p:txBody>
          <a:bodyPr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CANDIDATO: ANDREA ROCCACCINO</a:t>
            </a:r>
          </a:p>
          <a:p>
            <a:pPr algn="ctr">
              <a:lnSpc>
                <a:spcPct val="120000"/>
              </a:lnSpc>
            </a:pP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RELATORE: MARIO MOLINARA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32706" y="231116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21231D6-4466-90E0-5557-005D2BBBC162}"/>
              </a:ext>
            </a:extLst>
          </p:cNvPr>
          <p:cNvGrpSpPr/>
          <p:nvPr/>
        </p:nvGrpSpPr>
        <p:grpSpPr>
          <a:xfrm>
            <a:off x="495867" y="5504936"/>
            <a:ext cx="5036839" cy="954109"/>
            <a:chOff x="3343209" y="737384"/>
            <a:chExt cx="5036839" cy="954109"/>
          </a:xfrm>
        </p:grpSpPr>
        <p:pic>
          <p:nvPicPr>
            <p:cNvPr id="54" name="Picture 53" descr="A white circle with yellow sun and stars&#10;&#10;AI-generated content may be incorrect.">
              <a:extLst>
                <a:ext uri="{FF2B5EF4-FFF2-40B4-BE49-F238E27FC236}">
                  <a16:creationId xmlns:a16="http://schemas.microsoft.com/office/drawing/2014/main" id="{B855F5CE-8839-90F2-568B-E1FAA5417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250" b="95625" l="625" r="97500">
                          <a14:foregroundMark x1="34375" y1="39375" x2="88125" y2="30000"/>
                          <a14:foregroundMark x1="87613" y1="32500" x2="77500" y2="81875"/>
                          <a14:foregroundMark x1="88125" y1="30000" x2="87802" y2="31576"/>
                          <a14:foregroundMark x1="77500" y1="81875" x2="27500" y2="85000"/>
                          <a14:foregroundMark x1="8356" y1="33125" x2="8125" y2="32500"/>
                          <a14:foregroundMark x1="27500" y1="85000" x2="10630" y2="39288"/>
                          <a14:foregroundMark x1="15282" y1="28612" x2="58750" y2="5000"/>
                          <a14:foregroundMark x1="11976" y1="30408" x2="12762" y2="29981"/>
                          <a14:foregroundMark x1="8125" y1="32500" x2="9290" y2="31867"/>
                          <a14:foregroundMark x1="76835" y1="14895" x2="87269" y2="20605"/>
                          <a14:foregroundMark x1="73773" y1="13220" x2="75715" y2="14283"/>
                          <a14:foregroundMark x1="58750" y1="5000" x2="61189" y2="6334"/>
                          <a14:foregroundMark x1="94375" y1="46250" x2="48125" y2="81875"/>
                          <a14:foregroundMark x1="48125" y1="81875" x2="18750" y2="23750"/>
                          <a14:foregroundMark x1="18750" y1="23750" x2="10630" y2="44050"/>
                          <a14:foregroundMark x1="11875" y1="81875" x2="11875" y2="81875"/>
                          <a14:foregroundMark x1="11875" y1="81875" x2="11875" y2="81875"/>
                          <a14:foregroundMark x1="5625" y1="65000" x2="68453" y2="90319"/>
                          <a14:foregroundMark x1="89375" y1="67779" x2="89375" y2="38750"/>
                          <a14:foregroundMark x1="88033" y1="28750" x2="37231" y2="5110"/>
                          <a14:foregroundMark x1="13240" y1="30356" x2="10630" y2="36447"/>
                          <a14:foregroundMark x1="15676" y1="24672" x2="14314" y2="27851"/>
                          <a14:foregroundMark x1="17411" y1="20625" x2="16875" y2="21875"/>
                          <a14:foregroundMark x1="18129" y1="18950" x2="17505" y2="20406"/>
                          <a14:foregroundMark x1="20820" y1="12669" x2="18668" y2="17693"/>
                          <a14:foregroundMark x1="15040" y1="76449" x2="18602" y2="84005"/>
                          <a14:foregroundMark x1="7580" y1="60625" x2="14076" y2="74405"/>
                          <a14:foregroundMark x1="93002" y1="69607" x2="94249" y2="38750"/>
                          <a14:foregroundMark x1="87579" y1="31641" x2="40000" y2="3750"/>
                          <a14:foregroundMark x1="7446" y1="31726" x2="5818" y2="33125"/>
                          <a14:foregroundMark x1="15659" y1="24667" x2="13081" y2="26883"/>
                          <a14:foregroundMark x1="18181" y1="22500" x2="15955" y2="24413"/>
                          <a14:foregroundMark x1="35630" y1="7505" x2="18181" y2="22500"/>
                          <a14:foregroundMark x1="40000" y1="3750" x2="37650" y2="5769"/>
                          <a14:foregroundMark x1="37007" y1="4758" x2="38125" y2="3750"/>
                          <a14:foregroundMark x1="31999" y1="9273" x2="35021" y2="6548"/>
                          <a14:foregroundMark x1="18894" y1="21089" x2="30324" y2="10783"/>
                          <a14:foregroundMark x1="17330" y1="22500" x2="18840" y2="21138"/>
                          <a14:foregroundMark x1="16215" y1="23505" x2="17330" y2="22500"/>
                          <a14:foregroundMark x1="12753" y1="26626" x2="15098" y2="24511"/>
                          <a14:foregroundMark x1="5545" y1="33125" x2="7124" y2="31701"/>
                          <a14:foregroundMark x1="77024" y1="15369" x2="86250" y2="18125"/>
                          <a14:foregroundMark x1="64397" y1="11597" x2="76031" y2="15072"/>
                          <a14:foregroundMark x1="38125" y1="3750" x2="58654" y2="9882"/>
                          <a14:foregroundMark x1="90021" y1="38750" x2="95641" y2="69498"/>
                          <a14:foregroundMark x1="86250" y1="18125" x2="87466" y2="24776"/>
                          <a14:foregroundMark x1="96875" y1="68227" x2="96875" y2="38750"/>
                          <a14:foregroundMark x1="4375" y1="47500" x2="4375" y2="47500"/>
                          <a14:foregroundMark x1="4375" y1="46875" x2="5000" y2="44375"/>
                          <a14:foregroundMark x1="9375" y1="36875" x2="9375" y2="36875"/>
                          <a14:foregroundMark x1="17813" y1="21875" x2="26250" y2="9375"/>
                          <a14:foregroundMark x1="15885" y1="24730" x2="17391" y2="22500"/>
                          <a14:foregroundMark x1="13964" y1="27577" x2="15849" y2="24784"/>
                          <a14:foregroundMark x1="11967" y1="30536" x2="12487" y2="29765"/>
                          <a14:foregroundMark x1="9375" y1="34375" x2="10980" y2="31997"/>
                          <a14:foregroundMark x1="29375" y1="16250" x2="17505" y2="16790"/>
                          <a14:foregroundMark x1="6997" y1="31691" x2="5625" y2="33750"/>
                          <a14:foregroundMark x1="5625" y1="35000" x2="3125" y2="41250"/>
                          <a14:foregroundMark x1="3125" y1="41250" x2="3125" y2="45625"/>
                          <a14:foregroundMark x1="15071" y1="28447" x2="33125" y2="4375"/>
                          <a14:foregroundMark x1="3125" y1="44375" x2="13491" y2="30553"/>
                          <a14:foregroundMark x1="36263" y1="3590" x2="38125" y2="3125"/>
                          <a14:foregroundMark x1="33125" y1="4375" x2="33567" y2="4264"/>
                          <a14:foregroundMark x1="10292" y1="31944" x2="4375" y2="36875"/>
                          <a14:foregroundMark x1="12704" y1="29935" x2="11965" y2="30550"/>
                          <a14:foregroundMark x1="34375" y1="11875" x2="14772" y2="28211"/>
                          <a14:foregroundMark x1="7500" y1="33125" x2="2500" y2="38125"/>
                          <a14:foregroundMark x1="11359" y1="23853" x2="11514" y2="23514"/>
                          <a14:foregroundMark x1="6250" y1="35000" x2="7740" y2="31748"/>
                          <a14:foregroundMark x1="7313" y1="31716" x2="3750" y2="36250"/>
                          <a14:foregroundMark x1="11345" y1="25520" x2="12533" y2="23797"/>
                          <a14:foregroundMark x1="4375" y1="35625" x2="9847" y2="27691"/>
                          <a14:foregroundMark x1="35611" y1="2566" x2="36875" y2="1250"/>
                          <a14:foregroundMark x1="17059" y1="21875" x2="33731" y2="4522"/>
                          <a14:foregroundMark x1="12606" y1="26510" x2="14647" y2="24386"/>
                          <a14:foregroundMark x1="6250" y1="33125" x2="7584" y2="31736"/>
                          <a14:foregroundMark x1="77427" y1="16376" x2="79375" y2="16250"/>
                          <a14:foregroundMark x1="60000" y1="17500" x2="76679" y2="16424"/>
                          <a14:foregroundMark x1="68980" y1="9340" x2="63750" y2="6250"/>
                          <a14:foregroundMark x1="75211" y1="13022" x2="71167" y2="10633"/>
                          <a14:foregroundMark x1="77500" y1="14375" x2="76356" y2="13699"/>
                          <a14:foregroundMark x1="63125" y1="6875" x2="70000" y2="10625"/>
                          <a14:foregroundMark x1="15625" y1="27500" x2="16010" y2="22500"/>
                          <a14:foregroundMark x1="13036" y1="26848" x2="14009" y2="24208"/>
                          <a14:foregroundMark x1="12043" y1="29545" x2="12080" y2="29445"/>
                          <a14:foregroundMark x1="11577" y1="23870" x2="11699" y2="23565"/>
                          <a14:foregroundMark x1="10296" y1="23772" x2="10666" y2="23278"/>
                          <a14:foregroundMark x1="8200" y1="23050" x2="8559" y2="22691"/>
                          <a14:foregroundMark x1="20625" y1="17500" x2="34629" y2="5932"/>
                          <a14:foregroundMark x1="31875" y1="6250" x2="21875" y2="10000"/>
                          <a14:foregroundMark x1="7500" y1="29375" x2="5625" y2="30625"/>
                          <a14:foregroundMark x1="26250" y1="10625" x2="27500" y2="8125"/>
                          <a14:foregroundMark x1="4375" y1="75000" x2="5000" y2="76875"/>
                          <a14:foregroundMark x1="5000" y1="45625" x2="3750" y2="51250"/>
                          <a14:foregroundMark x1="3750" y1="46875" x2="3125" y2="51875"/>
                          <a14:foregroundMark x1="3125" y1="53750" x2="3125" y2="61875"/>
                          <a14:foregroundMark x1="3125" y1="58750" x2="1875" y2="58750"/>
                          <a14:foregroundMark x1="625" y1="52500" x2="1250" y2="50000"/>
                          <a14:foregroundMark x1="1250" y1="53750" x2="1875" y2="57500"/>
                          <a14:foregroundMark x1="1875" y1="59375" x2="1875" y2="53750"/>
                          <a14:foregroundMark x1="1875" y1="53750" x2="1250" y2="50000"/>
                          <a14:foregroundMark x1="1250" y1="55000" x2="1875" y2="50625"/>
                          <a14:foregroundMark x1="1875" y1="50000" x2="1875" y2="52500"/>
                          <a14:foregroundMark x1="1250" y1="52500" x2="1250" y2="56875"/>
                          <a14:foregroundMark x1="6250" y1="29375" x2="6250" y2="31250"/>
                          <a14:foregroundMark x1="7500" y1="26875" x2="7500" y2="29375"/>
                          <a14:foregroundMark x1="8750" y1="25625" x2="8125" y2="27500"/>
                          <a14:foregroundMark x1="9375" y1="23750" x2="8750" y2="25625"/>
                          <a14:foregroundMark x1="8750" y1="25000" x2="8125" y2="27500"/>
                          <a14:foregroundMark x1="10000" y1="24375" x2="9375" y2="26250"/>
                          <a14:foregroundMark x1="10000" y1="23750" x2="9375" y2="26250"/>
                          <a14:foregroundMark x1="9375" y1="23750" x2="7500" y2="26250"/>
                          <a14:foregroundMark x1="9375" y1="24375" x2="8125" y2="25625"/>
                          <a14:foregroundMark x1="9053" y1="22829" x2="8125" y2="24375"/>
                          <a14:foregroundMark x1="31250" y1="6875" x2="30000" y2="5000"/>
                          <a14:foregroundMark x1="73094" y1="7733" x2="65625" y2="3750"/>
                          <a14:foregroundMark x1="76801" y1="14811" x2="91250" y2="26250"/>
                          <a14:foregroundMark x1="91875" y1="28125" x2="92500" y2="28750"/>
                          <a14:foregroundMark x1="92500" y1="28125" x2="93750" y2="31250"/>
                          <a14:foregroundMark x1="93125" y1="27500" x2="93750" y2="30000"/>
                          <a14:foregroundMark x1="94375" y1="31250" x2="96875" y2="38125"/>
                          <a14:foregroundMark x1="95000" y1="32500" x2="77187" y2="11814"/>
                          <a14:foregroundMark x1="81250" y1="14375" x2="83750" y2="17500"/>
                          <a14:foregroundMark x1="83125" y1="15625" x2="85000" y2="17500"/>
                          <a14:foregroundMark x1="85000" y1="16875" x2="87500" y2="19375"/>
                          <a14:foregroundMark x1="87500" y1="19375" x2="90000" y2="23125"/>
                          <a14:foregroundMark x1="90000" y1="23125" x2="92500" y2="26875"/>
                          <a14:foregroundMark x1="86250" y1="18125" x2="82500" y2="12500"/>
                          <a14:foregroundMark x1="73760" y1="9758" x2="72500" y2="8750"/>
                          <a14:foregroundMark x1="75625" y1="11250" x2="74670" y2="10486"/>
                          <a14:foregroundMark x1="77500" y1="18750" x2="77500" y2="9375"/>
                          <a14:foregroundMark x1="74375" y1="7500" x2="74375" y2="7500"/>
                          <a14:foregroundMark x1="8125" y1="23750" x2="8125" y2="23750"/>
                          <a14:foregroundMark x1="9375" y1="25000" x2="8750" y2="23750"/>
                          <a14:foregroundMark x1="8750" y1="22500" x2="8750" y2="22500"/>
                          <a14:backgroundMark x1="3125" y1="10625" x2="3125" y2="10625"/>
                          <a14:backgroundMark x1="3152" y1="17549" x2="4078" y2="8522"/>
                          <a14:backgroundMark x1="0" y1="40061" x2="0" y2="41250"/>
                          <a14:backgroundMark x1="73750" y1="96875" x2="96875" y2="96875"/>
                          <a14:backgroundMark x1="76250" y1="95000" x2="97500" y2="73125"/>
                          <a14:backgroundMark x1="91875" y1="85000" x2="97500" y2="80625"/>
                          <a14:backgroundMark x1="97500" y1="71875" x2="87500" y2="90000"/>
                          <a14:backgroundMark x1="82500" y1="93750" x2="80625" y2="94375"/>
                          <a14:backgroundMark x1="77500" y1="93125" x2="74375" y2="95625"/>
                          <a14:backgroundMark x1="30000" y1="97500" x2="28750" y2="96250"/>
                          <a14:backgroundMark x1="26875" y1="96875" x2="20625" y2="91875"/>
                          <a14:backgroundMark x1="12500" y1="86875" x2="8750" y2="81250"/>
                          <a14:backgroundMark x1="11875" y1="86250" x2="9375" y2="82500"/>
                          <a14:backgroundMark x1="10625" y1="89375" x2="7500" y2="84375"/>
                          <a14:backgroundMark x1="11875" y1="85625" x2="10000" y2="82500"/>
                          <a14:backgroundMark x1="13750" y1="87500" x2="9375" y2="82500"/>
                          <a14:backgroundMark x1="13750" y1="86875" x2="10625" y2="82500"/>
                          <a14:backgroundMark x1="13125" y1="86875" x2="11875" y2="83750"/>
                          <a14:backgroundMark x1="15042" y1="2503" x2="15000" y2="1875"/>
                          <a14:backgroundMark x1="15390" y1="7731" x2="15336" y2="6925"/>
                          <a14:backgroundMark x1="28375" y1="2008" x2="28443" y2="1984"/>
                          <a14:backgroundMark x1="29653" y1="2361" x2="30809" y2="2057"/>
                          <a14:backgroundMark x1="28928" y1="2552" x2="29031" y2="2525"/>
                          <a14:backgroundMark x1="87577" y1="5891" x2="96875" y2="7500"/>
                          <a14:backgroundMark x1="79935" y1="4568" x2="81239" y2="4794"/>
                          <a14:backgroundMark x1="76249" y1="3930" x2="79355" y2="4468"/>
                          <a14:backgroundMark x1="99275" y1="23429" x2="99375" y2="23750"/>
                          <a14:backgroundMark x1="93750" y1="5625" x2="96394" y2="14145"/>
                          <a14:backgroundMark x1="99054" y1="29232" x2="99136" y2="29589"/>
                          <a14:backgroundMark x1="97954" y1="24467" x2="98290" y2="25922"/>
                          <a14:backgroundMark x1="99375" y1="29375" x2="99375" y2="29506"/>
                          <a14:backgroundMark x1="96988" y1="30339" x2="96893" y2="30054"/>
                          <a14:backgroundMark x1="97789" y1="29713" x2="97883" y2="30026"/>
                          <a14:backgroundMark x1="99375" y1="37253" x2="99375" y2="38750"/>
                          <a14:backgroundMark x1="98125" y1="70625" x2="98750" y2="67500"/>
                          <a14:backgroundMark x1="98125" y1="69375" x2="98750" y2="63750"/>
                          <a14:backgroundMark x1="97500" y1="69375" x2="99375" y2="65000"/>
                          <a14:backgroundMark x1="96250" y1="71875" x2="97500" y2="68125"/>
                          <a14:backgroundMark x1="11875" y1="85625" x2="8750" y2="83125"/>
                          <a14:backgroundMark x1="1602" y1="26671" x2="1586" y2="26875"/>
                          <a14:backgroundMark x1="3125" y1="81250" x2="1250" y2="76875"/>
                          <a14:backgroundMark x1="3125" y1="79375" x2="3750" y2="80000"/>
                          <a14:backgroundMark x1="3750" y1="80000" x2="3750" y2="76875"/>
                          <a14:backgroundMark x1="5000" y1="80000" x2="4375" y2="76250"/>
                          <a14:backgroundMark x1="5000" y1="79375" x2="3125" y2="74375"/>
                          <a14:backgroundMark x1="5625" y1="79375" x2="6875" y2="81250"/>
                          <a14:backgroundMark x1="6250" y1="78750" x2="4375" y2="73750"/>
                          <a14:backgroundMark x1="85000" y1="0" x2="79375" y2="625"/>
                          <a14:backgroundMark x1="74276" y1="2489" x2="74375" y2="2500"/>
                          <a14:backgroundMark x1="78776" y1="2989" x2="75346" y2="2608"/>
                          <a14:backgroundMark x1="80000" y1="3125" x2="78890" y2="3002"/>
                          <a14:backgroundMark x1="72082" y1="1388" x2="71875" y2="1250"/>
                          <a14:backgroundMark x1="73750" y1="2500" x2="73368" y2="2245"/>
                          <a14:backgroundMark x1="71875" y1="1250" x2="71289" y2="1104"/>
                          <a14:backgroundMark x1="34375" y1="625" x2="31250" y2="625"/>
                          <a14:backgroundMark x1="6875" y1="18729" x2="6875" y2="19561"/>
                          <a14:backgroundMark x1="6875" y1="12500" x2="6875" y2="18306"/>
                          <a14:backgroundMark x1="91250" y1="11875" x2="85625" y2="10000"/>
                          <a14:backgroundMark x1="86250" y1="11875" x2="83750" y2="10000"/>
                          <a14:backgroundMark x1="74276" y1="3191" x2="70000" y2="625"/>
                          <a14:backgroundMark x1="79375" y1="6250" x2="75828" y2="4122"/>
                          <a14:backgroundMark x1="5625" y1="6250" x2="5625" y2="3750"/>
                          <a14:backgroundMark x1="6875" y1="6250" x2="6875" y2="8750"/>
                          <a14:backgroundMark x1="6875" y1="8125" x2="5625" y2="3125"/>
                          <a14:backgroundMark x1="4375" y1="2500" x2="8125" y2="5625"/>
                          <a14:backgroundMark x1="6676" y1="18197" x2="5625" y2="21875"/>
                          <a14:backgroundMark x1="6875" y1="17500" x2="6745" y2="17957"/>
                          <a14:backgroundMark x1="7500" y1="20625" x2="7500" y2="20625"/>
                          <a14:backgroundMark x1="69375" y1="625" x2="69375" y2="625"/>
                          <a14:backgroundMark x1="68750" y1="1250" x2="68750" y2="12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3209" y="737385"/>
              <a:ext cx="954108" cy="954108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5109842-9FD1-E308-37D9-011072BB78A4}"/>
                </a:ext>
              </a:extLst>
            </p:cNvPr>
            <p:cNvSpPr txBox="1"/>
            <p:nvPr/>
          </p:nvSpPr>
          <p:spPr>
            <a:xfrm>
              <a:off x="4297319" y="737384"/>
              <a:ext cx="40827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Dipartimento di Ingegneria Informatica</a:t>
              </a:r>
            </a:p>
            <a:p>
              <a:r>
                <a:rPr lang="it-IT" dirty="0"/>
                <a:t>e delle Telecomunicazioni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CFE7785-C239-036B-120B-1BD938CD6BA4}"/>
                </a:ext>
              </a:extLst>
            </p:cNvPr>
            <p:cNvSpPr txBox="1"/>
            <p:nvPr/>
          </p:nvSpPr>
          <p:spPr>
            <a:xfrm>
              <a:off x="4297317" y="1383715"/>
              <a:ext cx="36921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dirty="0"/>
                <a:t>Università di Cassino e del Lazio Meridionale</a:t>
              </a:r>
            </a:p>
          </p:txBody>
        </p:sp>
      </p:grpSp>
      <p:pic>
        <p:nvPicPr>
          <p:cNvPr id="57" name="Picture 56" descr="A logo with a lion head&#10;&#10;AI-generated content may be incorrect.">
            <a:extLst>
              <a:ext uri="{FF2B5EF4-FFF2-40B4-BE49-F238E27FC236}">
                <a16:creationId xmlns:a16="http://schemas.microsoft.com/office/drawing/2014/main" id="{4E86CB29-3EFB-E21D-2B2E-7112158F3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222" y="5429695"/>
            <a:ext cx="2614414" cy="1104590"/>
          </a:xfrm>
          <a:prstGeom prst="rect">
            <a:avLst/>
          </a:prstGeom>
        </p:spPr>
      </p:pic>
      <p:pic>
        <p:nvPicPr>
          <p:cNvPr id="58" name="Picture 57" descr="A logo with green dots&#10;&#10;AI-generated content may be incorrect.">
            <a:extLst>
              <a:ext uri="{FF2B5EF4-FFF2-40B4-BE49-F238E27FC236}">
                <a16:creationId xmlns:a16="http://schemas.microsoft.com/office/drawing/2014/main" id="{E4B274E6-60D2-8F29-3458-A311CC9221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984" y="5411157"/>
            <a:ext cx="2614414" cy="114166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13FA78E-3A3A-FF71-B07E-6889D69DE648}"/>
              </a:ext>
            </a:extLst>
          </p:cNvPr>
          <p:cNvSpPr txBox="1">
            <a:spLocks/>
          </p:cNvSpPr>
          <p:nvPr/>
        </p:nvSpPr>
        <p:spPr>
          <a:xfrm>
            <a:off x="3965575" y="3390117"/>
            <a:ext cx="6967276" cy="9850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CORRELATORI: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CIRO D’ELIA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15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FRANCESCO PORPORA</a:t>
            </a:r>
          </a:p>
          <a:p>
            <a:pPr algn="ctr">
              <a:lnSpc>
                <a:spcPct val="120000"/>
              </a:lnSpc>
            </a:pPr>
            <a:endParaRPr lang="en-US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915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7811E-9465-50BF-4796-7BFC578C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Obiettivo</a:t>
            </a:r>
            <a:r>
              <a:rPr lang="en-US" dirty="0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della</a:t>
            </a:r>
            <a:r>
              <a:rPr lang="en-US" dirty="0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tesi</a:t>
            </a:r>
            <a:endParaRPr lang="it-IT" dirty="0">
              <a:latin typeface="Segoe UI" panose="020B0502040204020203" pitchFamily="34" charset="0"/>
              <a:ea typeface="SF Pro Text" pitchFamily="50" charset="0"/>
              <a:cs typeface="Segoe UI" panose="020B0502040204020203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BAB5E-6A73-B0EB-E93B-F3B6487B7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937760"/>
            <a:ext cx="12192000" cy="19202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28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Architettura software modulare</a:t>
            </a:r>
            <a:br>
              <a:rPr lang="it-IT" sz="28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</a:br>
            <a:r>
              <a:rPr lang="it-IT" sz="28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per comunicazioni affidabili con moduli radio economici</a:t>
            </a:r>
            <a:br>
              <a:rPr lang="it-IT" sz="28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</a:br>
            <a:r>
              <a:rPr lang="it-IT" sz="28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su sistemi GNU/Linux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81D38EB-DF49-F395-CA98-75E790DA1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313" y="2468880"/>
            <a:ext cx="2386584" cy="238658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B6ABE97-F78B-953E-178E-EA8400D25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0260" y="2537653"/>
            <a:ext cx="2386584" cy="2386584"/>
          </a:xfrm>
          <a:prstGeom prst="rect">
            <a:avLst/>
          </a:prstGeom>
        </p:spPr>
      </p:pic>
      <p:sp>
        <p:nvSpPr>
          <p:cNvPr id="29" name="Arc 28">
            <a:extLst>
              <a:ext uri="{FF2B5EF4-FFF2-40B4-BE49-F238E27FC236}">
                <a16:creationId xmlns:a16="http://schemas.microsoft.com/office/drawing/2014/main" id="{6A3DA289-07DB-5867-83FE-C28180BD26B1}"/>
              </a:ext>
            </a:extLst>
          </p:cNvPr>
          <p:cNvSpPr/>
          <p:nvPr/>
        </p:nvSpPr>
        <p:spPr>
          <a:xfrm>
            <a:off x="4476863" y="2333990"/>
            <a:ext cx="3099816" cy="950976"/>
          </a:xfrm>
          <a:prstGeom prst="arc">
            <a:avLst>
              <a:gd name="adj1" fmla="val 11326099"/>
              <a:gd name="adj2" fmla="val 210671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92BDCB8-11C5-48ED-8313-CA2E7EFD9D75}"/>
              </a:ext>
            </a:extLst>
          </p:cNvPr>
          <p:cNvCxnSpPr>
            <a:cxnSpLocks/>
          </p:cNvCxnSpPr>
          <p:nvPr/>
        </p:nvCxnSpPr>
        <p:spPr>
          <a:xfrm flipH="1">
            <a:off x="4533899" y="2593676"/>
            <a:ext cx="114300" cy="78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00C200-94F7-8DD1-8FA0-F7B1DDC5A569}"/>
              </a:ext>
            </a:extLst>
          </p:cNvPr>
          <p:cNvCxnSpPr>
            <a:cxnSpLocks/>
          </p:cNvCxnSpPr>
          <p:nvPr/>
        </p:nvCxnSpPr>
        <p:spPr>
          <a:xfrm>
            <a:off x="7405688" y="2593676"/>
            <a:ext cx="92868" cy="65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90123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AFA95-0CDB-2865-0C8E-993717096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4895273"/>
            <a:ext cx="3550790" cy="1476533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Introduzione</a:t>
            </a:r>
            <a:r>
              <a:rPr lang="en-US" sz="3600" dirty="0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al </a:t>
            </a:r>
            <a:r>
              <a:rPr lang="en-US" sz="3600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problema</a:t>
            </a:r>
            <a:endParaRPr lang="it-IT" sz="3600" dirty="0">
              <a:latin typeface="Segoe UI" panose="020B0502040204020203" pitchFamily="34" charset="0"/>
              <a:ea typeface="SF Pro Text" pitchFamily="50" charset="0"/>
              <a:cs typeface="Segoe UI" panose="020B0502040204020203" pitchFamily="34" charset="0"/>
            </a:endParaRPr>
          </a:p>
        </p:txBody>
      </p:sp>
      <p:pic>
        <p:nvPicPr>
          <p:cNvPr id="5" name="Content Placeholder 4" descr="A cartoon of a person standing on a road next to a body of water&#10;&#10;AI-generated content may be incorrect.">
            <a:extLst>
              <a:ext uri="{FF2B5EF4-FFF2-40B4-BE49-F238E27FC236}">
                <a16:creationId xmlns:a16="http://schemas.microsoft.com/office/drawing/2014/main" id="{22D27CD7-AEDE-806D-AC07-FC4B40797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8"/>
          <a:stretch>
            <a:fillRect/>
          </a:stretch>
        </p:blipFill>
        <p:spPr>
          <a:xfrm>
            <a:off x="660991" y="10"/>
            <a:ext cx="10870017" cy="465155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40B49CA-EAC2-1CA0-6983-E6C19D413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6260" y="4895270"/>
            <a:ext cx="7164751" cy="14765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Supponiamo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di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voler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collegare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stabilmente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i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due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ragazzi</a:t>
            </a:r>
            <a:endParaRPr lang="en-US" sz="2200" dirty="0"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85754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C5C63-988D-DB08-E861-95D60CF8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4D0F1F-45EC-889A-424D-05A894124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36FB5-5FE7-5311-826A-08162281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4895273"/>
            <a:ext cx="3550790" cy="1476533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Introduzione</a:t>
            </a:r>
            <a:r>
              <a:rPr lang="en-US" sz="3600" dirty="0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al </a:t>
            </a:r>
            <a:r>
              <a:rPr lang="en-US" sz="3600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problema</a:t>
            </a:r>
            <a:endParaRPr lang="it-IT" sz="3600" dirty="0">
              <a:latin typeface="Segoe UI" panose="020B0502040204020203" pitchFamily="34" charset="0"/>
              <a:ea typeface="SF Pro Text" pitchFamily="50" charset="0"/>
              <a:cs typeface="Segoe UI" panose="020B0502040204020203" pitchFamily="34" charset="0"/>
            </a:endParaRPr>
          </a:p>
        </p:txBody>
      </p:sp>
      <p:pic>
        <p:nvPicPr>
          <p:cNvPr id="5" name="Content Placeholder 4" descr="A cartoon of a person standing on a road next to a body of water&#10;&#10;AI-generated content may be incorrect.">
            <a:extLst>
              <a:ext uri="{FF2B5EF4-FFF2-40B4-BE49-F238E27FC236}">
                <a16:creationId xmlns:a16="http://schemas.microsoft.com/office/drawing/2014/main" id="{3498D9E0-C70D-0B39-F2AB-B083FEE86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8"/>
          <a:stretch>
            <a:fillRect/>
          </a:stretch>
        </p:blipFill>
        <p:spPr>
          <a:xfrm>
            <a:off x="660991" y="10"/>
            <a:ext cx="10870017" cy="465155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B790582-9FA0-8F3F-D72D-118D539AA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49147FB-E2A2-1009-150B-1A6592944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8464" y="4895270"/>
            <a:ext cx="5592548" cy="14765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Sono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disponibili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alcune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possibilità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100726-2670-E6CF-C784-2BFA9E177B3E}"/>
              </a:ext>
            </a:extLst>
          </p:cNvPr>
          <p:cNvSpPr/>
          <p:nvPr/>
        </p:nvSpPr>
        <p:spPr>
          <a:xfrm>
            <a:off x="3600450" y="0"/>
            <a:ext cx="3971925" cy="4600575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050" name="Picture 2" descr="4G, 4G LTE icon vector logo template">
            <a:extLst>
              <a:ext uri="{FF2B5EF4-FFF2-40B4-BE49-F238E27FC236}">
                <a16:creationId xmlns:a16="http://schemas.microsoft.com/office/drawing/2014/main" id="{6C0391E0-800A-D777-3380-6F8D9E55E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5833" y1="51111" x2="25833" y2="51111"/>
                        <a14:foregroundMark x1="63333" y1="44444" x2="63333" y2="44444"/>
                        <a14:foregroundMark x1="69167" y1="36944" x2="69167" y2="36944"/>
                        <a14:foregroundMark x1="75000" y1="31944" x2="75000" y2="31944"/>
                        <a14:foregroundMark x1="75556" y1="67222" x2="75556" y2="67222"/>
                        <a14:foregroundMark x1="83889" y1="66389" x2="83889" y2="66389"/>
                        <a14:foregroundMark x1="67500" y1="69444" x2="67500" y2="69444"/>
                        <a14:backgroundMark x1="68056" y1="69167" x2="68056" y2="69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036" y="406264"/>
            <a:ext cx="185737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Fi Logo PNG Vector">
            <a:extLst>
              <a:ext uri="{FF2B5EF4-FFF2-40B4-BE49-F238E27FC236}">
                <a16:creationId xmlns:a16="http://schemas.microsoft.com/office/drawing/2014/main" id="{485DAC0D-3E54-B5FA-E9EB-518160A2D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149" y="711301"/>
            <a:ext cx="1614488" cy="161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iot Weblogos-03 - Lora Logo, HD Png Download - riot png">
            <a:extLst>
              <a:ext uri="{FF2B5EF4-FFF2-40B4-BE49-F238E27FC236}">
                <a16:creationId xmlns:a16="http://schemas.microsoft.com/office/drawing/2014/main" id="{C50F792C-04A8-33A6-C74A-6DE89EB79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5000" y1="49563" x2="45000" y2="49563"/>
                        <a14:foregroundMark x1="26600" y1="53353" x2="26600" y2="53353"/>
                        <a14:foregroundMark x1="36400" y1="29446" x2="36400" y2="29446"/>
                        <a14:foregroundMark x1="37800" y1="22449" x2="37800" y2="22449"/>
                        <a14:foregroundMark x1="39400" y1="13703" x2="39400" y2="13703"/>
                        <a14:foregroundMark x1="45600" y1="60933" x2="45600" y2="60933"/>
                        <a14:foregroundMark x1="47600" y1="67930" x2="47600" y2="67930"/>
                        <a14:foregroundMark x1="50600" y1="74052" x2="50600" y2="74052"/>
                        <a14:foregroundMark x1="79000" y1="44898" x2="79000" y2="44898"/>
                        <a14:foregroundMark x1="88000" y1="38484" x2="88000" y2="38484"/>
                        <a14:foregroundMark x1="88000" y1="35860" x2="88000" y2="35860"/>
                        <a14:foregroundMark x1="87800" y1="35860" x2="87800" y2="35860"/>
                        <a14:foregroundMark x1="88000" y1="36152" x2="88000" y2="36152"/>
                        <a14:foregroundMark x1="88000" y1="36735" x2="88000" y2="36735"/>
                        <a14:foregroundMark x1="88000" y1="37318" x2="88000" y2="37318"/>
                        <a14:foregroundMark x1="88000" y1="37609" x2="88000" y2="37609"/>
                        <a14:foregroundMark x1="87800" y1="37609" x2="88200" y2="36443"/>
                        <a14:backgroundMark x1="88200" y1="39359" x2="88200" y2="39359"/>
                        <a14:backgroundMark x1="88200" y1="39067" x2="88200" y2="39067"/>
                        <a14:backgroundMark x1="88200" y1="38776" x2="88200" y2="38776"/>
                        <a14:backgroundMark x1="88000" y1="38776" x2="88000" y2="38776"/>
                        <a14:backgroundMark x1="37600" y1="11079" x2="39400" y2="12536"/>
                        <a14:backgroundMark x1="39200" y1="13120" x2="39400" y2="12245"/>
                        <a14:backgroundMark x1="50800" y1="75510" x2="51400" y2="75219"/>
                        <a14:backgroundMark x1="51400" y1="76093" x2="51200" y2="75219"/>
                        <a14:backgroundMark x1="51400" y1="75802" x2="51200" y2="749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467" y="2536030"/>
            <a:ext cx="2909887" cy="199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4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F671C-D440-5CF3-F3E7-6579FD30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0A0BA03-A550-D6B9-DDCB-D509CF97B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5AA2D-289B-60C5-D98A-00B58AD09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4895273"/>
            <a:ext cx="3550790" cy="1476533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Introduzione</a:t>
            </a:r>
            <a:r>
              <a:rPr lang="en-US" sz="3600" dirty="0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al </a:t>
            </a:r>
            <a:r>
              <a:rPr lang="en-US" sz="3600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problema</a:t>
            </a:r>
            <a:endParaRPr lang="it-IT" sz="3600" dirty="0">
              <a:latin typeface="Segoe UI" panose="020B0502040204020203" pitchFamily="34" charset="0"/>
              <a:ea typeface="SF Pro Text" pitchFamily="50" charset="0"/>
              <a:cs typeface="Segoe UI" panose="020B0502040204020203" pitchFamily="34" charset="0"/>
            </a:endParaRPr>
          </a:p>
        </p:txBody>
      </p:sp>
      <p:pic>
        <p:nvPicPr>
          <p:cNvPr id="5" name="Content Placeholder 4" descr="A cartoon of a person standing on a road next to a body of water&#10;&#10;AI-generated content may be incorrect.">
            <a:extLst>
              <a:ext uri="{FF2B5EF4-FFF2-40B4-BE49-F238E27FC236}">
                <a16:creationId xmlns:a16="http://schemas.microsoft.com/office/drawing/2014/main" id="{B2ABBB5A-3380-9E19-A1E8-7F6BD33D4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88"/>
          <a:stretch>
            <a:fillRect/>
          </a:stretch>
        </p:blipFill>
        <p:spPr>
          <a:xfrm>
            <a:off x="660991" y="10"/>
            <a:ext cx="10870017" cy="465155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BB5094-C369-53F0-CAA1-8F6736C55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2B94628-BC72-EC63-5DB0-219FD0C24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176" y="4882776"/>
            <a:ext cx="6559656" cy="14765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...ma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nessuna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soddisfa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tutti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i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requisiti</a:t>
            </a:r>
            <a:b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</a:b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in termini di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copertura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,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velocità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e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costo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8DD62B-C169-D790-2867-E19BD38838F5}"/>
              </a:ext>
            </a:extLst>
          </p:cNvPr>
          <p:cNvSpPr/>
          <p:nvPr/>
        </p:nvSpPr>
        <p:spPr>
          <a:xfrm>
            <a:off x="660990" y="0"/>
            <a:ext cx="10869326" cy="4651554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050" name="Picture 2" descr="4G, 4G LTE icon vector logo template">
            <a:extLst>
              <a:ext uri="{FF2B5EF4-FFF2-40B4-BE49-F238E27FC236}">
                <a16:creationId xmlns:a16="http://schemas.microsoft.com/office/drawing/2014/main" id="{DA2EBAF5-969A-02A5-8964-33869B7BF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5833" y1="51111" x2="25833" y2="51111"/>
                        <a14:foregroundMark x1="63333" y1="44444" x2="63333" y2="44444"/>
                        <a14:foregroundMark x1="69167" y1="36944" x2="69167" y2="36944"/>
                        <a14:foregroundMark x1="75000" y1="31944" x2="75000" y2="31944"/>
                        <a14:foregroundMark x1="75556" y1="67222" x2="75556" y2="67222"/>
                        <a14:foregroundMark x1="83889" y1="66389" x2="83889" y2="66389"/>
                        <a14:foregroundMark x1="67500" y1="69444" x2="67500" y2="69444"/>
                        <a14:backgroundMark x1="68056" y1="69167" x2="68056" y2="69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195" y="238130"/>
            <a:ext cx="185737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Fi Logo PNG Vector">
            <a:extLst>
              <a:ext uri="{FF2B5EF4-FFF2-40B4-BE49-F238E27FC236}">
                <a16:creationId xmlns:a16="http://schemas.microsoft.com/office/drawing/2014/main" id="{88B07CA2-7FA0-FB36-294A-0AED54115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654" y="484095"/>
            <a:ext cx="1614488" cy="161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iot Weblogos-03 - Lora Logo, HD Png Download - riot png">
            <a:extLst>
              <a:ext uri="{FF2B5EF4-FFF2-40B4-BE49-F238E27FC236}">
                <a16:creationId xmlns:a16="http://schemas.microsoft.com/office/drawing/2014/main" id="{43AA1A33-4A8D-73D1-73D4-5DE72A674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5000" y1="49563" x2="45000" y2="49563"/>
                        <a14:foregroundMark x1="26600" y1="53353" x2="26600" y2="53353"/>
                        <a14:foregroundMark x1="36400" y1="29446" x2="36400" y2="29446"/>
                        <a14:foregroundMark x1="37800" y1="22449" x2="37800" y2="22449"/>
                        <a14:foregroundMark x1="39400" y1="13703" x2="39400" y2="13703"/>
                        <a14:foregroundMark x1="45600" y1="60933" x2="45600" y2="60933"/>
                        <a14:foregroundMark x1="47600" y1="67930" x2="47600" y2="67930"/>
                        <a14:foregroundMark x1="50600" y1="74052" x2="50600" y2="74052"/>
                        <a14:foregroundMark x1="79000" y1="44898" x2="79000" y2="44898"/>
                        <a14:foregroundMark x1="88000" y1="38484" x2="88000" y2="38484"/>
                        <a14:foregroundMark x1="88000" y1="35860" x2="88000" y2="35860"/>
                        <a14:foregroundMark x1="87800" y1="35860" x2="87800" y2="35860"/>
                        <a14:foregroundMark x1="88000" y1="36152" x2="88000" y2="36152"/>
                        <a14:foregroundMark x1="88000" y1="36735" x2="88000" y2="36735"/>
                        <a14:foregroundMark x1="88000" y1="37318" x2="88000" y2="37318"/>
                        <a14:foregroundMark x1="88000" y1="37609" x2="88000" y2="37609"/>
                        <a14:foregroundMark x1="87800" y1="37609" x2="88200" y2="36443"/>
                        <a14:backgroundMark x1="88200" y1="39359" x2="88200" y2="39359"/>
                        <a14:backgroundMark x1="88200" y1="39067" x2="88200" y2="39067"/>
                        <a14:backgroundMark x1="88200" y1="38776" x2="88200" y2="38776"/>
                        <a14:backgroundMark x1="88000" y1="38776" x2="88000" y2="38776"/>
                        <a14:backgroundMark x1="37600" y1="11079" x2="39400" y2="12536"/>
                        <a14:backgroundMark x1="39200" y1="13120" x2="39400" y2="12245"/>
                        <a14:backgroundMark x1="50800" y1="75510" x2="51400" y2="75219"/>
                        <a14:backgroundMark x1="51400" y1="76093" x2="51200" y2="75219"/>
                        <a14:backgroundMark x1="51400" y1="75802" x2="51200" y2="749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036" y="448962"/>
            <a:ext cx="2909887" cy="199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7084A0-B82C-E074-449C-D0E122DCEAE0}"/>
              </a:ext>
            </a:extLst>
          </p:cNvPr>
          <p:cNvSpPr txBox="1"/>
          <p:nvPr/>
        </p:nvSpPr>
        <p:spPr>
          <a:xfrm>
            <a:off x="313300" y="2062149"/>
            <a:ext cx="235372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Copertura</a:t>
            </a:r>
            <a:endParaRPr lang="en-US" sz="28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SF Pro Display" pitchFamily="50" charset="0"/>
              <a:ea typeface="SF Pro Display" pitchFamily="50" charset="0"/>
              <a:cs typeface="SF Pro Display" pitchFamily="50" charset="0"/>
            </a:endParaRPr>
          </a:p>
          <a:p>
            <a:pPr algn="r"/>
            <a:r>
              <a:rPr lang="en-US" sz="28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Velocità</a:t>
            </a:r>
            <a:endParaRPr lang="en-US" sz="28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pPr algn="r"/>
            <a:endParaRPr lang="en-US" sz="2000" dirty="0">
              <a:solidFill>
                <a:schemeClr val="bg1"/>
              </a:solidFill>
              <a:latin typeface="SF Pro Display" pitchFamily="50" charset="0"/>
              <a:ea typeface="SF Pro Display" pitchFamily="50" charset="0"/>
              <a:cs typeface="SF Pro Display" pitchFamily="50" charset="0"/>
            </a:endParaRPr>
          </a:p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Costo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45831A5-8DF8-70B9-91C9-326EA63560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58714" y="3548617"/>
            <a:ext cx="535390" cy="53539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F6A8CB2-5272-9603-EF12-B5C536F928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158714" y="2823600"/>
            <a:ext cx="535390" cy="53539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FE903AC-D7C3-970E-F1DE-38E76DC769D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3158714" y="2069711"/>
            <a:ext cx="535390" cy="53539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FE5CEC4-11C6-01A3-F4F9-BD8F9242A1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020163" y="3546278"/>
            <a:ext cx="535390" cy="53539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6A077C0-9FD4-2D7D-0C0D-9D19B87C3B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6020163" y="2823600"/>
            <a:ext cx="535390" cy="53539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89B574F-4B9E-7884-DC04-51840414BA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735693" y="2095505"/>
            <a:ext cx="535390" cy="53539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4CF68A2-B106-752E-4A6C-692C4C5C8C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35693" y="2837851"/>
            <a:ext cx="535390" cy="5353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C72D74A-7477-1628-BCCE-FFDAC3185F4F}"/>
              </a:ext>
            </a:extLst>
          </p:cNvPr>
          <p:cNvSpPr txBox="1"/>
          <p:nvPr/>
        </p:nvSpPr>
        <p:spPr>
          <a:xfrm>
            <a:off x="3694103" y="2166828"/>
            <a:ext cx="194897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Interferenze</a:t>
            </a:r>
            <a:endParaRPr lang="en-US" sz="22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endParaRPr lang="en-US" sz="2600" dirty="0">
              <a:solidFill>
                <a:schemeClr val="bg1"/>
              </a:solidFill>
              <a:latin typeface="SF Pro Display" pitchFamily="50" charset="0"/>
              <a:ea typeface="SF Pro Display" pitchFamily="50" charset="0"/>
              <a:cs typeface="SF Pro Display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Alto</a:t>
            </a:r>
          </a:p>
          <a:p>
            <a:endParaRPr lang="en-US" sz="2600" dirty="0">
              <a:solidFill>
                <a:schemeClr val="bg1"/>
              </a:solidFill>
              <a:latin typeface="SF Pro Display" pitchFamily="50" charset="0"/>
              <a:ea typeface="SF Pro Display" pitchFamily="50" charset="0"/>
              <a:cs typeface="SF Pro Display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Piano </a:t>
            </a:r>
            <a:r>
              <a:rPr lang="en-US" sz="22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mensile</a:t>
            </a:r>
            <a:endParaRPr lang="en-US" sz="22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1EBAA0-FD15-062E-C1A1-2BD3346ABB3E}"/>
              </a:ext>
            </a:extLst>
          </p:cNvPr>
          <p:cNvSpPr txBox="1"/>
          <p:nvPr/>
        </p:nvSpPr>
        <p:spPr>
          <a:xfrm>
            <a:off x="6548924" y="2166828"/>
            <a:ext cx="193537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Non-standard</a:t>
            </a:r>
          </a:p>
          <a:p>
            <a:endParaRPr lang="en-US" sz="2600" dirty="0">
              <a:solidFill>
                <a:schemeClr val="bg1"/>
              </a:solidFill>
              <a:latin typeface="SF Pro Display" pitchFamily="50" charset="0"/>
              <a:ea typeface="SF Pro Display" pitchFamily="50" charset="0"/>
              <a:cs typeface="SF Pro Display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Alto</a:t>
            </a:r>
          </a:p>
          <a:p>
            <a:endParaRPr lang="en-US" sz="26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Medio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1B462A-37BF-A197-61F3-962171446408}"/>
              </a:ext>
            </a:extLst>
          </p:cNvPr>
          <p:cNvSpPr txBox="1"/>
          <p:nvPr/>
        </p:nvSpPr>
        <p:spPr>
          <a:xfrm>
            <a:off x="9275041" y="2166828"/>
            <a:ext cx="179347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Elevata</a:t>
            </a:r>
            <a:endParaRPr lang="en-US" sz="22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endParaRPr lang="en-US" sz="26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r>
              <a:rPr lang="en-US" sz="22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Insufficiente</a:t>
            </a:r>
            <a:endParaRPr lang="en-US" sz="22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endParaRPr lang="en-US" sz="2600" dirty="0">
              <a:solidFill>
                <a:schemeClr val="bg1"/>
              </a:solidFill>
              <a:latin typeface="SF Pro Display" pitchFamily="50" charset="0"/>
              <a:ea typeface="SF Pro Display" pitchFamily="50" charset="0"/>
              <a:cs typeface="SF Pro Display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Budget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162C3D10-56F9-0E49-5EBC-2DED31D015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735693" y="3545830"/>
            <a:ext cx="535390" cy="53539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36A97F5C-528E-5E7B-D572-1D6C1E46DF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20163" y="2115831"/>
            <a:ext cx="535390" cy="53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77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90DCA-487D-75CD-5C7F-A233A70C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4A5890-2B7B-BD11-C66A-DE563B880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68D20-D660-2F21-B419-174445CF3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4895273"/>
            <a:ext cx="3550790" cy="1476533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Soluzione</a:t>
            </a:r>
            <a:r>
              <a:rPr lang="en-US" sz="3600" dirty="0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del </a:t>
            </a:r>
            <a:r>
              <a:rPr lang="en-US" sz="3600" dirty="0" err="1"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problema</a:t>
            </a:r>
            <a:endParaRPr lang="it-IT" sz="3600" dirty="0">
              <a:latin typeface="Segoe UI" panose="020B0502040204020203" pitchFamily="34" charset="0"/>
              <a:ea typeface="SF Pro Text" pitchFamily="50" charset="0"/>
              <a:cs typeface="Segoe UI" panose="020B0502040204020203" pitchFamily="34" charset="0"/>
            </a:endParaRPr>
          </a:p>
        </p:txBody>
      </p:sp>
      <p:pic>
        <p:nvPicPr>
          <p:cNvPr id="5" name="Content Placeholder 4" descr="A cartoon of a person standing on a road next to a body of water&#10;&#10;AI-generated content may be incorrect.">
            <a:extLst>
              <a:ext uri="{FF2B5EF4-FFF2-40B4-BE49-F238E27FC236}">
                <a16:creationId xmlns:a16="http://schemas.microsoft.com/office/drawing/2014/main" id="{8D886597-1EC7-DF4F-67B8-95655ECF1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88"/>
          <a:stretch>
            <a:fillRect/>
          </a:stretch>
        </p:blipFill>
        <p:spPr>
          <a:xfrm>
            <a:off x="660991" y="10"/>
            <a:ext cx="10870017" cy="465155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B4754B-E448-E603-9F7B-12C034C03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963FD17-F88D-8976-DA57-AC06F68A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777" y="4895270"/>
            <a:ext cx="6658234" cy="147654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Questo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modulo ci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soddisfa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, ma pone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delle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sfide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.</a:t>
            </a:r>
            <a:b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</a:br>
            <a:r>
              <a:rPr lang="en-US" sz="2200" dirty="0" err="1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Superabili</a:t>
            </a:r>
            <a:r>
              <a:rPr lang="en-US" sz="2200" dirty="0"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con un software.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08C419-D4D6-173F-F2D4-3E834FEEB045}"/>
              </a:ext>
            </a:extLst>
          </p:cNvPr>
          <p:cNvSpPr/>
          <p:nvPr/>
        </p:nvSpPr>
        <p:spPr>
          <a:xfrm>
            <a:off x="660990" y="0"/>
            <a:ext cx="10869326" cy="4651554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B754293-95BD-B658-871C-DCA15F5FAC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145555" y="2823600"/>
            <a:ext cx="535390" cy="53539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26CFE6-0488-991D-B4B4-A86A4E32B7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145555" y="2098584"/>
            <a:ext cx="535390" cy="53539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4FEBD36-838F-4414-73D9-3DA9AA0AA24F}"/>
              </a:ext>
            </a:extLst>
          </p:cNvPr>
          <p:cNvSpPr txBox="1"/>
          <p:nvPr/>
        </p:nvSpPr>
        <p:spPr>
          <a:xfrm>
            <a:off x="3674315" y="2166828"/>
            <a:ext cx="233410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Fino a 1Km</a:t>
            </a:r>
          </a:p>
          <a:p>
            <a:endParaRPr lang="en-US" sz="2400" dirty="0">
              <a:solidFill>
                <a:schemeClr val="bg1"/>
              </a:solidFill>
              <a:latin typeface="SF Pro Display" pitchFamily="50" charset="0"/>
              <a:ea typeface="SF Pro Display" pitchFamily="50" charset="0"/>
              <a:cs typeface="SF Pro Display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Max 2Mbps</a:t>
            </a:r>
          </a:p>
          <a:p>
            <a:endParaRPr lang="en-US" sz="2600" dirty="0">
              <a:solidFill>
                <a:schemeClr val="bg1"/>
              </a:solidFill>
              <a:latin typeface="SF Pro Display" pitchFamily="50" charset="0"/>
              <a:ea typeface="SF Pro Display" pitchFamily="50" charset="0"/>
              <a:cs typeface="SF Pro Display" pitchFamily="50" charset="0"/>
            </a:endParaRPr>
          </a:p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Basso (da </a:t>
            </a:r>
            <a:r>
              <a:rPr lang="it-IT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€2 </a:t>
            </a:r>
            <a:r>
              <a:rPr lang="it-IT" sz="22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cad</a:t>
            </a:r>
            <a:r>
              <a:rPr lang="it-IT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)</a:t>
            </a:r>
            <a:endParaRPr lang="en-US" sz="22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985D13-1390-98CE-A09B-7631DCDE1EC2}"/>
              </a:ext>
            </a:extLst>
          </p:cNvPr>
          <p:cNvSpPr txBox="1"/>
          <p:nvPr/>
        </p:nvSpPr>
        <p:spPr>
          <a:xfrm>
            <a:off x="986319" y="799935"/>
            <a:ext cx="61833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Possibile</a:t>
            </a:r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soluzione</a:t>
            </a:r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:</a:t>
            </a:r>
            <a:b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nRF24L01 di Nordic Semiconductor</a:t>
            </a:r>
          </a:p>
        </p:txBody>
      </p:sp>
      <p:pic>
        <p:nvPicPr>
          <p:cNvPr id="3074" name="Picture 2" descr="Modulo Transceptor Rf Nrf24l01+ Pa Lna 100mw 2.4ghz">
            <a:extLst>
              <a:ext uri="{FF2B5EF4-FFF2-40B4-BE49-F238E27FC236}">
                <a16:creationId xmlns:a16="http://schemas.microsoft.com/office/drawing/2014/main" id="{166D0293-F954-9CB6-46F5-F6348C898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6786" r="95000">
                        <a14:foregroundMark x1="28571" y1="71429" x2="28571" y2="71429"/>
                        <a14:foregroundMark x1="9464" y1="55714" x2="9464" y2="55714"/>
                        <a14:foregroundMark x1="8393" y1="53036" x2="8393" y2="53036"/>
                        <a14:foregroundMark x1="6786" y1="53929" x2="6786" y2="53929"/>
                        <a14:foregroundMark x1="53393" y1="59464" x2="53393" y2="59464"/>
                        <a14:foregroundMark x1="53214" y1="53750" x2="53214" y2="53750"/>
                        <a14:foregroundMark x1="53929" y1="49821" x2="53929" y2="49821"/>
                        <a14:foregroundMark x1="45714" y1="58571" x2="45714" y2="58571"/>
                        <a14:foregroundMark x1="44821" y1="61607" x2="44821" y2="61607"/>
                        <a14:foregroundMark x1="42679" y1="61607" x2="42679" y2="61607"/>
                        <a14:foregroundMark x1="41607" y1="60357" x2="43393" y2="58929"/>
                        <a14:foregroundMark x1="51250" y1="62679" x2="51250" y2="62679"/>
                        <a14:foregroundMark x1="50179" y1="63036" x2="50179" y2="63036"/>
                        <a14:foregroundMark x1="92143" y1="41429" x2="92143" y2="41429"/>
                        <a14:foregroundMark x1="91964" y1="25000" x2="91964" y2="25000"/>
                        <a14:foregroundMark x1="89821" y1="40357" x2="89821" y2="40357"/>
                        <a14:foregroundMark x1="90536" y1="40000" x2="90536" y2="40000"/>
                        <a14:foregroundMark x1="45714" y1="62857" x2="45714" y2="62857"/>
                        <a14:foregroundMark x1="45357" y1="63929" x2="45357" y2="63929"/>
                        <a14:foregroundMark x1="45000" y1="64643" x2="48750" y2="62143"/>
                        <a14:foregroundMark x1="45000" y1="64821" x2="48393" y2="63214"/>
                        <a14:foregroundMark x1="59464" y1="66607" x2="62500" y2="64286"/>
                        <a14:foregroundMark x1="73393" y1="56607" x2="74821" y2="55536"/>
                        <a14:foregroundMark x1="76964" y1="54464" x2="78214" y2="53571"/>
                        <a14:foregroundMark x1="90000" y1="44643" x2="95000" y2="416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599" y="-416039"/>
            <a:ext cx="2994032" cy="299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BEF5258-102A-F899-F27E-4CF3EE5EE3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145555" y="3546916"/>
            <a:ext cx="535390" cy="5353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93547F1-FE99-094E-D71A-C7864DD92B63}"/>
              </a:ext>
            </a:extLst>
          </p:cNvPr>
          <p:cNvSpPr txBox="1"/>
          <p:nvPr/>
        </p:nvSpPr>
        <p:spPr>
          <a:xfrm>
            <a:off x="313300" y="2062149"/>
            <a:ext cx="235372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Copertura</a:t>
            </a:r>
            <a:endParaRPr lang="en-US" sz="28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SF Pro Display" pitchFamily="50" charset="0"/>
              <a:ea typeface="SF Pro Display" pitchFamily="50" charset="0"/>
              <a:cs typeface="SF Pro Display" pitchFamily="50" charset="0"/>
            </a:endParaRPr>
          </a:p>
          <a:p>
            <a:pPr algn="r"/>
            <a:r>
              <a:rPr lang="en-US" sz="28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Velocità</a:t>
            </a:r>
            <a:endParaRPr lang="en-US" sz="28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pPr algn="r"/>
            <a:endParaRPr lang="en-US" sz="2000" dirty="0">
              <a:solidFill>
                <a:schemeClr val="bg1"/>
              </a:solidFill>
              <a:latin typeface="SF Pro Display" pitchFamily="50" charset="0"/>
              <a:ea typeface="SF Pro Display" pitchFamily="50" charset="0"/>
              <a:cs typeface="SF Pro Display" pitchFamily="50" charset="0"/>
            </a:endParaRPr>
          </a:p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Costo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D86C4-440B-9281-BB21-0C0B8FCC9D5F}"/>
              </a:ext>
            </a:extLst>
          </p:cNvPr>
          <p:cNvSpPr txBox="1"/>
          <p:nvPr/>
        </p:nvSpPr>
        <p:spPr>
          <a:xfrm>
            <a:off x="7705018" y="2197570"/>
            <a:ext cx="343514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Sistema </a:t>
            </a:r>
            <a:r>
              <a:rPr lang="en-US" sz="22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proprietario</a:t>
            </a:r>
            <a:endParaRPr lang="en-US" sz="22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b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Pochi</a:t>
            </a:r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dati</a:t>
            </a:r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per </a:t>
            </a:r>
            <a:r>
              <a:rPr lang="en-US" sz="2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transazione</a:t>
            </a:r>
            <a:endParaRPr lang="en-US" sz="2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br>
              <a:rPr lang="en-US" sz="2400" dirty="0">
                <a:solidFill>
                  <a:schemeClr val="bg1"/>
                </a:solidFill>
                <a:latin typeface="SF Pro Display" pitchFamily="50" charset="0"/>
                <a:ea typeface="SF Pro Display" pitchFamily="50" charset="0"/>
                <a:cs typeface="Segoe UI" panose="020B0502040204020203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Half Duplex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825AAA-E1B0-B68B-A5D9-B6594756442E}"/>
              </a:ext>
            </a:extLst>
          </p:cNvPr>
          <p:cNvSpPr txBox="1"/>
          <p:nvPr/>
        </p:nvSpPr>
        <p:spPr>
          <a:xfrm>
            <a:off x="6255297" y="2829685"/>
            <a:ext cx="687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Ma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65515A4C-EFD6-2476-3368-488CF67D5B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8149" y="3530044"/>
            <a:ext cx="535390" cy="53539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F72F939A-3548-AC24-7643-B73198AA26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8149" y="2829685"/>
            <a:ext cx="535390" cy="53539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1D6CAEB6-FF56-8A6E-6D40-B53EB552B3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76258" y="2129326"/>
            <a:ext cx="535390" cy="53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86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EE5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03872D-D616-F7C0-2C41-C6CD170F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>
            <a:extLst>
              <a:ext uri="{FF2B5EF4-FFF2-40B4-BE49-F238E27FC236}">
                <a16:creationId xmlns:a16="http://schemas.microsoft.com/office/drawing/2014/main" id="{7C5DCB33-40F4-672C-D8AB-DA5808C4C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17256" y="3429000"/>
            <a:ext cx="20488858" cy="15161753"/>
          </a:xfrm>
          <a:prstGeom prst="rect">
            <a:avLst/>
          </a:prstGeom>
        </p:spPr>
      </p:pic>
      <p:pic>
        <p:nvPicPr>
          <p:cNvPr id="5" name="Content Placeholder 4" descr="A cartoon of a person standing on a road next to a body of water&#10;&#10;AI-generated content may be incorrect.">
            <a:extLst>
              <a:ext uri="{FF2B5EF4-FFF2-40B4-BE49-F238E27FC236}">
                <a16:creationId xmlns:a16="http://schemas.microsoft.com/office/drawing/2014/main" id="{C029DEEB-D5A3-EA09-484B-680F72CDC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88"/>
          <a:stretch>
            <a:fillRect/>
          </a:stretch>
        </p:blipFill>
        <p:spPr>
          <a:xfrm>
            <a:off x="-6610350" y="-262593"/>
            <a:ext cx="25027606" cy="107099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C9A68C-B5C9-0740-CECA-E69782E1FDE4}"/>
              </a:ext>
            </a:extLst>
          </p:cNvPr>
          <p:cNvSpPr/>
          <p:nvPr/>
        </p:nvSpPr>
        <p:spPr>
          <a:xfrm>
            <a:off x="-51149" y="-64650"/>
            <a:ext cx="12293600" cy="6987299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CB93386-3817-FCA1-0A85-EF6D840AB96E}"/>
              </a:ext>
            </a:extLst>
          </p:cNvPr>
          <p:cNvSpPr/>
          <p:nvPr/>
        </p:nvSpPr>
        <p:spPr>
          <a:xfrm>
            <a:off x="4657725" y="1730026"/>
            <a:ext cx="7214516" cy="55513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CF49A9-1323-0000-7EBD-E8215BF1F9E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941871" y="5380037"/>
            <a:ext cx="6462568" cy="620804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Per </a:t>
            </a:r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avere</a:t>
            </a: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un </a:t>
            </a:r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collegamento</a:t>
            </a: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Full Duplex: </a:t>
            </a:r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raddoppiamo</a:t>
            </a: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i</a:t>
            </a: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moduli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861CB-14FC-CAB9-5CCA-1390E70BE98D}"/>
              </a:ext>
            </a:extLst>
          </p:cNvPr>
          <p:cNvSpPr txBox="1"/>
          <p:nvPr/>
        </p:nvSpPr>
        <p:spPr>
          <a:xfrm>
            <a:off x="1795114" y="525907"/>
            <a:ext cx="8601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Architettura</a:t>
            </a:r>
            <a:r>
              <a:rPr lang="en-US" sz="3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Software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3DEBDCB-46DC-19AE-A4DD-368C5D4F770D}"/>
              </a:ext>
            </a:extLst>
          </p:cNvPr>
          <p:cNvSpPr/>
          <p:nvPr/>
        </p:nvSpPr>
        <p:spPr>
          <a:xfrm>
            <a:off x="4657725" y="2351713"/>
            <a:ext cx="7214515" cy="55513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72201F5-E4D7-0D51-5CD6-E2A65950B802}"/>
              </a:ext>
            </a:extLst>
          </p:cNvPr>
          <p:cNvSpPr/>
          <p:nvPr/>
        </p:nvSpPr>
        <p:spPr>
          <a:xfrm>
            <a:off x="4657725" y="2978937"/>
            <a:ext cx="7214515" cy="55513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680FA80-148F-772C-3E21-B37BEADDE576}"/>
              </a:ext>
            </a:extLst>
          </p:cNvPr>
          <p:cNvSpPr/>
          <p:nvPr/>
        </p:nvSpPr>
        <p:spPr>
          <a:xfrm>
            <a:off x="4657725" y="3594364"/>
            <a:ext cx="7214516" cy="117330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35343-FA2F-A5A2-F6A2-93682D5EA9D7}"/>
              </a:ext>
            </a:extLst>
          </p:cNvPr>
          <p:cNvSpPr txBox="1"/>
          <p:nvPr/>
        </p:nvSpPr>
        <p:spPr>
          <a:xfrm>
            <a:off x="5301531" y="1782038"/>
            <a:ext cx="6570710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Frame di </a:t>
            </a:r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grandi</a:t>
            </a:r>
            <a:r>
              <a:rPr lang="en-US" sz="24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dimensioni</a:t>
            </a:r>
            <a:endParaRPr lang="en-US" sz="24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endParaRPr lang="en-US" sz="16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Agnostica</a:t>
            </a:r>
            <a:r>
              <a:rPr lang="en-US" sz="24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rispetto al </a:t>
            </a:r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contenuto</a:t>
            </a:r>
            <a:endParaRPr lang="en-US" sz="24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endParaRPr lang="en-US" sz="16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r>
              <a:rPr lang="en-US" sz="24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Logica di </a:t>
            </a:r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segmentazione</a:t>
            </a:r>
            <a:r>
              <a:rPr lang="en-US" sz="24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e </a:t>
            </a:r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correzione</a:t>
            </a:r>
            <a:r>
              <a:rPr lang="en-US" sz="24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di </a:t>
            </a:r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errori</a:t>
            </a:r>
            <a:endParaRPr lang="en-US" sz="24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endParaRPr lang="en-US" sz="28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Rapida</a:t>
            </a:r>
            <a:r>
              <a:rPr lang="en-US" sz="24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implementazione</a:t>
            </a:r>
            <a:endParaRPr lang="en-US" sz="24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r>
              <a:rPr lang="en-US" sz="24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	e </a:t>
            </a:r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selezione</a:t>
            </a:r>
            <a:r>
              <a:rPr lang="en-US" sz="24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di moduli radio </a:t>
            </a:r>
            <a:r>
              <a:rPr lang="en-US" sz="24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aggiuntivi</a:t>
            </a:r>
            <a:endParaRPr lang="en-US" sz="24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endParaRPr lang="en-US" sz="16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8CE1F2-D9ED-D789-E91D-141C0BFD14E4}"/>
              </a:ext>
            </a:extLst>
          </p:cNvPr>
          <p:cNvSpPr/>
          <p:nvPr/>
        </p:nvSpPr>
        <p:spPr>
          <a:xfrm>
            <a:off x="956771" y="2972677"/>
            <a:ext cx="2979213" cy="55513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Segoe UI" panose="020B0502040204020203" pitchFamily="34" charset="0"/>
                <a:cs typeface="Segoe UI" panose="020B0502040204020203" pitchFamily="34" charset="0"/>
              </a:rPr>
              <a:t>Rete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7B8BB9-B0C0-6963-E988-812CAC15E647}"/>
              </a:ext>
            </a:extLst>
          </p:cNvPr>
          <p:cNvSpPr/>
          <p:nvPr/>
        </p:nvSpPr>
        <p:spPr>
          <a:xfrm>
            <a:off x="956771" y="3594364"/>
            <a:ext cx="2979213" cy="55513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Segoe UI" panose="020B0502040204020203" pitchFamily="34" charset="0"/>
                <a:cs typeface="Segoe UI" panose="020B0502040204020203" pitchFamily="34" charset="0"/>
              </a:rPr>
              <a:t>Collegamento</a:t>
            </a:r>
            <a:endParaRPr lang="en-US" sz="2200" b="1" dirty="0">
              <a:ln w="3175">
                <a:solidFill>
                  <a:schemeClr val="tx1">
                    <a:alpha val="30000"/>
                  </a:schemeClr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ED8D1B-97FB-3C05-5BD1-906DF0FED965}"/>
              </a:ext>
            </a:extLst>
          </p:cNvPr>
          <p:cNvSpPr/>
          <p:nvPr/>
        </p:nvSpPr>
        <p:spPr>
          <a:xfrm>
            <a:off x="956771" y="4212538"/>
            <a:ext cx="2979213" cy="55513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Segoe UI" panose="020B0502040204020203" pitchFamily="34" charset="0"/>
                <a:cs typeface="Segoe UI" panose="020B0502040204020203" pitchFamily="34" charset="0"/>
              </a:rPr>
              <a:t>Fisico</a:t>
            </a:r>
            <a:endParaRPr lang="en-US" sz="2200" b="1" dirty="0">
              <a:ln w="3175">
                <a:solidFill>
                  <a:schemeClr val="tx1">
                    <a:alpha val="30000"/>
                  </a:schemeClr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C2E4D7-417B-B250-6994-ED905CE5D776}"/>
              </a:ext>
            </a:extLst>
          </p:cNvPr>
          <p:cNvSpPr/>
          <p:nvPr/>
        </p:nvSpPr>
        <p:spPr>
          <a:xfrm>
            <a:off x="956772" y="2351713"/>
            <a:ext cx="2979213" cy="55513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Segoe UI" panose="020B0502040204020203" pitchFamily="34" charset="0"/>
                <a:cs typeface="Segoe UI" panose="020B0502040204020203" pitchFamily="34" charset="0"/>
              </a:rPr>
              <a:t>Trasporto</a:t>
            </a:r>
            <a:endParaRPr lang="en-US" sz="2200" b="1" dirty="0">
              <a:ln w="3175">
                <a:solidFill>
                  <a:schemeClr val="tx1">
                    <a:alpha val="30000"/>
                  </a:schemeClr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76DABE-3C0B-7846-C216-83AEF830748D}"/>
              </a:ext>
            </a:extLst>
          </p:cNvPr>
          <p:cNvSpPr/>
          <p:nvPr/>
        </p:nvSpPr>
        <p:spPr>
          <a:xfrm>
            <a:off x="956771" y="1730026"/>
            <a:ext cx="2979213" cy="55513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Segoe UI" panose="020B0502040204020203" pitchFamily="34" charset="0"/>
                <a:cs typeface="Segoe UI" panose="020B0502040204020203" pitchFamily="34" charset="0"/>
              </a:rPr>
              <a:t>Applicazione</a:t>
            </a:r>
            <a:endParaRPr lang="en-US" sz="2200" b="1" dirty="0">
              <a:ln w="3175">
                <a:solidFill>
                  <a:schemeClr val="tx1">
                    <a:alpha val="30000"/>
                  </a:schemeClr>
                </a:solidFill>
              </a:ln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CEA0D6-0DB8-E1E8-3BFC-3B81C3B6044D}"/>
              </a:ext>
            </a:extLst>
          </p:cNvPr>
          <p:cNvSpPr txBox="1"/>
          <p:nvPr/>
        </p:nvSpPr>
        <p:spPr>
          <a:xfrm>
            <a:off x="956771" y="4939645"/>
            <a:ext cx="29792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Pila TCP/IP</a:t>
            </a: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1661DDD7-74F0-F549-401D-356311C6FF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707424" y="3913246"/>
            <a:ext cx="535390" cy="53539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1F5D5465-4CF3-42A7-AA4E-111F7C474E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736783" y="2944797"/>
            <a:ext cx="535390" cy="53539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FC8C8DD6-AF65-BCF1-68ED-B474534A93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714054" y="1743351"/>
            <a:ext cx="535390" cy="53539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1DDB703F-E2F9-44C1-116B-578F7706921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4714054" y="2361585"/>
            <a:ext cx="535390" cy="53539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15A1B8A3-F53C-6CBE-668B-C053D2E25E47}"/>
              </a:ext>
            </a:extLst>
          </p:cNvPr>
          <p:cNvSpPr/>
          <p:nvPr/>
        </p:nvSpPr>
        <p:spPr>
          <a:xfrm>
            <a:off x="29670138" y="7913239"/>
            <a:ext cx="2223762" cy="2002009"/>
          </a:xfrm>
          <a:prstGeom prst="rect">
            <a:avLst/>
          </a:prstGeom>
          <a:solidFill>
            <a:srgbClr val="EEE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DAF5C2F-09E8-2B9A-A078-6FE69D873E20}"/>
              </a:ext>
            </a:extLst>
          </p:cNvPr>
          <p:cNvSpPr/>
          <p:nvPr/>
        </p:nvSpPr>
        <p:spPr>
          <a:xfrm>
            <a:off x="24245091" y="8657104"/>
            <a:ext cx="7629403" cy="1258144"/>
          </a:xfrm>
          <a:prstGeom prst="rect">
            <a:avLst/>
          </a:prstGeom>
          <a:solidFill>
            <a:srgbClr val="EEE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9454444-F911-4B2C-6746-BC62E6331314}"/>
              </a:ext>
            </a:extLst>
          </p:cNvPr>
          <p:cNvCxnSpPr/>
          <p:nvPr/>
        </p:nvCxnSpPr>
        <p:spPr>
          <a:xfrm>
            <a:off x="28545445" y="8657104"/>
            <a:ext cx="0" cy="2387600"/>
          </a:xfrm>
          <a:prstGeom prst="line">
            <a:avLst/>
          </a:prstGeom>
          <a:ln w="88900">
            <a:gradFill flip="none" rotWithShape="1">
              <a:gsLst>
                <a:gs pos="0">
                  <a:srgbClr val="EEE5DA">
                    <a:lumMod val="100000"/>
                  </a:srgbClr>
                </a:gs>
                <a:gs pos="50000">
                  <a:srgbClr val="938B85"/>
                </a:gs>
                <a:gs pos="100000">
                  <a:srgbClr val="EEE5DA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002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E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4" descr="A cartoon of a person standing on a road next to a body of water&#10;&#10;AI-generated content may be incorrect.">
            <a:extLst>
              <a:ext uri="{FF2B5EF4-FFF2-40B4-BE49-F238E27FC236}">
                <a16:creationId xmlns:a16="http://schemas.microsoft.com/office/drawing/2014/main" id="{32BC65BE-A316-5689-5610-4C772B8BF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88"/>
          <a:stretch>
            <a:fillRect/>
          </a:stretch>
        </p:blipFill>
        <p:spPr>
          <a:xfrm>
            <a:off x="-25098161" y="-64650"/>
            <a:ext cx="25027606" cy="10709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93FFE3-E53F-AC36-1C79-3377A2EB52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149" y="710965"/>
            <a:ext cx="20488858" cy="151617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333BC6-D5DA-BD0F-C950-10F130A64155}"/>
              </a:ext>
            </a:extLst>
          </p:cNvPr>
          <p:cNvSpPr/>
          <p:nvPr/>
        </p:nvSpPr>
        <p:spPr>
          <a:xfrm>
            <a:off x="11201733" y="5195204"/>
            <a:ext cx="2223762" cy="2002009"/>
          </a:xfrm>
          <a:prstGeom prst="rect">
            <a:avLst/>
          </a:prstGeom>
          <a:solidFill>
            <a:srgbClr val="EEE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20C08E-F967-674A-D702-40CAA37F18FA}"/>
              </a:ext>
            </a:extLst>
          </p:cNvPr>
          <p:cNvSpPr/>
          <p:nvPr/>
        </p:nvSpPr>
        <p:spPr>
          <a:xfrm>
            <a:off x="5776686" y="5939069"/>
            <a:ext cx="7629403" cy="1258144"/>
          </a:xfrm>
          <a:prstGeom prst="rect">
            <a:avLst/>
          </a:prstGeom>
          <a:solidFill>
            <a:srgbClr val="EEE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23F318-70D8-8C7B-E5DC-61EE4F8811C6}"/>
              </a:ext>
            </a:extLst>
          </p:cNvPr>
          <p:cNvCxnSpPr/>
          <p:nvPr/>
        </p:nvCxnSpPr>
        <p:spPr>
          <a:xfrm>
            <a:off x="10077040" y="5939069"/>
            <a:ext cx="0" cy="2387600"/>
          </a:xfrm>
          <a:prstGeom prst="line">
            <a:avLst/>
          </a:prstGeom>
          <a:ln w="88900">
            <a:gradFill flip="none" rotWithShape="1">
              <a:gsLst>
                <a:gs pos="0">
                  <a:srgbClr val="EEE5DA">
                    <a:lumMod val="100000"/>
                  </a:srgbClr>
                </a:gs>
                <a:gs pos="50000">
                  <a:srgbClr val="938B85"/>
                </a:gs>
                <a:gs pos="100000">
                  <a:srgbClr val="EEE5DA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821C7-2E2E-325B-8103-757F2BBCDD93}"/>
              </a:ext>
            </a:extLst>
          </p:cNvPr>
          <p:cNvSpPr/>
          <p:nvPr/>
        </p:nvSpPr>
        <p:spPr>
          <a:xfrm>
            <a:off x="-51149" y="-64650"/>
            <a:ext cx="5689950" cy="6987299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B32F5C-2968-6CFC-C5F6-21550420D920}"/>
              </a:ext>
            </a:extLst>
          </p:cNvPr>
          <p:cNvSpPr txBox="1"/>
          <p:nvPr/>
        </p:nvSpPr>
        <p:spPr>
          <a:xfrm>
            <a:off x="-1506712" y="710965"/>
            <a:ext cx="86010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Hybrid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Automatic Repeat Request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33B784-075E-BE30-8216-DDF7F68582E8}"/>
              </a:ext>
            </a:extLst>
          </p:cNvPr>
          <p:cNvSpPr/>
          <p:nvPr/>
        </p:nvSpPr>
        <p:spPr>
          <a:xfrm>
            <a:off x="1303508" y="4259674"/>
            <a:ext cx="2979213" cy="55513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Controllo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mancanti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AB30281-2429-5E73-71FD-E7A4532B0137}"/>
              </a:ext>
            </a:extLst>
          </p:cNvPr>
          <p:cNvSpPr/>
          <p:nvPr/>
        </p:nvSpPr>
        <p:spPr>
          <a:xfrm>
            <a:off x="1303508" y="4881361"/>
            <a:ext cx="2979213" cy="55513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ACK o NACK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884186-8518-A8B2-C252-DC791F8D13F4}"/>
              </a:ext>
            </a:extLst>
          </p:cNvPr>
          <p:cNvSpPr/>
          <p:nvPr/>
        </p:nvSpPr>
        <p:spPr>
          <a:xfrm>
            <a:off x="1303509" y="3638710"/>
            <a:ext cx="2979213" cy="55513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Trasmissione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708DF25-4228-E98A-748A-AD6F89246FA9}"/>
              </a:ext>
            </a:extLst>
          </p:cNvPr>
          <p:cNvSpPr/>
          <p:nvPr/>
        </p:nvSpPr>
        <p:spPr>
          <a:xfrm>
            <a:off x="1303508" y="3017023"/>
            <a:ext cx="2979213" cy="55513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Segmentazione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C3D98B-1C55-C3E2-ABD7-689BEA5E4A2B}"/>
              </a:ext>
            </a:extLst>
          </p:cNvPr>
          <p:cNvSpPr txBox="1"/>
          <p:nvPr/>
        </p:nvSpPr>
        <p:spPr>
          <a:xfrm>
            <a:off x="223216" y="2332965"/>
            <a:ext cx="51793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Passaggi</a:t>
            </a:r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fondamentali</a:t>
            </a:r>
            <a:endParaRPr lang="en-US" sz="2200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971485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EE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F4885A-88EF-06DC-CA09-A4CEAD9A2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149" y="710965"/>
            <a:ext cx="20488858" cy="151617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03821C7-2E2E-325B-8103-757F2BBCDD93}"/>
              </a:ext>
            </a:extLst>
          </p:cNvPr>
          <p:cNvSpPr/>
          <p:nvPr/>
        </p:nvSpPr>
        <p:spPr>
          <a:xfrm>
            <a:off x="-51149" y="-64650"/>
            <a:ext cx="5689950" cy="6987299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B32F5C-2968-6CFC-C5F6-21550420D920}"/>
              </a:ext>
            </a:extLst>
          </p:cNvPr>
          <p:cNvSpPr txBox="1"/>
          <p:nvPr/>
        </p:nvSpPr>
        <p:spPr>
          <a:xfrm>
            <a:off x="-1513767" y="531059"/>
            <a:ext cx="860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Efficienza</a:t>
            </a: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del </a:t>
            </a:r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sistema</a:t>
            </a:r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2AA353-1727-95F4-9C0F-47AD035DAE2D}"/>
              </a:ext>
            </a:extLst>
          </p:cNvPr>
          <p:cNvCxnSpPr/>
          <p:nvPr/>
        </p:nvCxnSpPr>
        <p:spPr>
          <a:xfrm>
            <a:off x="10272869" y="9318856"/>
            <a:ext cx="0" cy="2387600"/>
          </a:xfrm>
          <a:prstGeom prst="line">
            <a:avLst/>
          </a:prstGeom>
          <a:ln w="88900">
            <a:gradFill flip="none" rotWithShape="1">
              <a:gsLst>
                <a:gs pos="0">
                  <a:srgbClr val="EEE5DA">
                    <a:lumMod val="100000"/>
                  </a:srgbClr>
                </a:gs>
                <a:gs pos="50000">
                  <a:srgbClr val="938B85"/>
                </a:gs>
                <a:gs pos="100000">
                  <a:srgbClr val="EEE5DA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artoon of a child thinking&#10;&#10;AI-generated content may be incorrect.">
            <a:extLst>
              <a:ext uri="{FF2B5EF4-FFF2-40B4-BE49-F238E27FC236}">
                <a16:creationId xmlns:a16="http://schemas.microsoft.com/office/drawing/2014/main" id="{7579BFFE-6AAC-12EB-E6B1-FF8F77E87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36" b="51563" l="62517" r="87282">
                        <a14:foregroundMark x1="85274" y1="36230" x2="85141" y2="34668"/>
                        <a14:foregroundMark x1="87149" y1="32129" x2="87416" y2="31934"/>
                        <a14:foregroundMark x1="87416" y1="31836" x2="87416" y2="31836"/>
                        <a14:foregroundMark x1="78983" y1="40332" x2="78313" y2="41602"/>
                        <a14:foregroundMark x1="78313" y1="41797" x2="78046" y2="42383"/>
                        <a14:foregroundMark x1="77912" y1="42676" x2="77778" y2="42969"/>
                        <a14:foregroundMark x1="72959" y1="40332" x2="72825" y2="40625"/>
                        <a14:foregroundMark x1="69076" y1="40918" x2="68675" y2="40527"/>
                        <a14:foregroundMark x1="72959" y1="44824" x2="73226" y2="45313"/>
                        <a14:foregroundMark x1="72825" y1="44727" x2="72557" y2="44238"/>
                        <a14:foregroundMark x1="65997" y1="48438" x2="65997" y2="49414"/>
                        <a14:foregroundMark x1="78581" y1="47656" x2="77778" y2="50195"/>
                        <a14:foregroundMark x1="62517" y1="39160" x2="62517" y2="38672"/>
                      </a14:backgroundRemoval>
                    </a14:imgEffect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965" t="29832" r="10143" b="45862"/>
          <a:stretch/>
        </p:blipFill>
        <p:spPr>
          <a:xfrm>
            <a:off x="14805516" y="1249574"/>
            <a:ext cx="3400659" cy="37905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F8342F-43AF-ADFB-829D-17E250E778F1}"/>
              </a:ext>
            </a:extLst>
          </p:cNvPr>
          <p:cNvSpPr/>
          <p:nvPr/>
        </p:nvSpPr>
        <p:spPr>
          <a:xfrm>
            <a:off x="7684294" y="7310169"/>
            <a:ext cx="4934281" cy="2387600"/>
          </a:xfrm>
          <a:prstGeom prst="rect">
            <a:avLst/>
          </a:prstGeom>
          <a:solidFill>
            <a:srgbClr val="EEE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1CD274-9E1F-0651-761C-3BD7B6910B25}"/>
              </a:ext>
            </a:extLst>
          </p:cNvPr>
          <p:cNvSpPr/>
          <p:nvPr/>
        </p:nvSpPr>
        <p:spPr>
          <a:xfrm>
            <a:off x="12870109" y="5337623"/>
            <a:ext cx="3400660" cy="3120577"/>
          </a:xfrm>
          <a:prstGeom prst="rect">
            <a:avLst/>
          </a:prstGeom>
          <a:solidFill>
            <a:srgbClr val="EEE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C1ADB2-1624-3E37-4F48-D36D948A9526}"/>
              </a:ext>
            </a:extLst>
          </p:cNvPr>
          <p:cNvSpPr/>
          <p:nvPr/>
        </p:nvSpPr>
        <p:spPr>
          <a:xfrm>
            <a:off x="-12192000" y="0"/>
            <a:ext cx="12192000" cy="6858000"/>
          </a:xfrm>
          <a:prstGeom prst="rect">
            <a:avLst/>
          </a:prstGeom>
          <a:solidFill>
            <a:srgbClr val="EEE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DC26D838-6582-7E09-8E93-0DC7600248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9815432"/>
              </p:ext>
            </p:extLst>
          </p:nvPr>
        </p:nvGraphicFramePr>
        <p:xfrm>
          <a:off x="251534" y="3969620"/>
          <a:ext cx="5070475" cy="2736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C774E0E-6659-085E-3D69-E501614CCC0A}"/>
              </a:ext>
            </a:extLst>
          </p:cNvPr>
          <p:cNvSpPr txBox="1"/>
          <p:nvPr/>
        </p:nvSpPr>
        <p:spPr>
          <a:xfrm>
            <a:off x="0" y="1944515"/>
            <a:ext cx="5638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Algoritmi</a:t>
            </a: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 overhead </a:t>
            </a:r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inferiore</a:t>
            </a: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al 12%</a:t>
            </a:r>
            <a:b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sono</a:t>
            </a: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considerati</a:t>
            </a: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efficienti</a:t>
            </a:r>
            <a:b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</a:t>
            </a:r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ambienti</a:t>
            </a: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rumorosi</a:t>
            </a:r>
            <a:endParaRPr lang="en-US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2EDE70-0C3E-47C3-A342-6945DDC10E74}"/>
              </a:ext>
            </a:extLst>
          </p:cNvPr>
          <p:cNvSpPr/>
          <p:nvPr/>
        </p:nvSpPr>
        <p:spPr>
          <a:xfrm>
            <a:off x="11201733" y="5195204"/>
            <a:ext cx="2223762" cy="2002009"/>
          </a:xfrm>
          <a:prstGeom prst="rect">
            <a:avLst/>
          </a:prstGeom>
          <a:solidFill>
            <a:srgbClr val="EEE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95CDFD-5093-EAE6-C0AA-C021831B76AE}"/>
              </a:ext>
            </a:extLst>
          </p:cNvPr>
          <p:cNvSpPr/>
          <p:nvPr/>
        </p:nvSpPr>
        <p:spPr>
          <a:xfrm>
            <a:off x="5776686" y="5939069"/>
            <a:ext cx="7629403" cy="1258144"/>
          </a:xfrm>
          <a:prstGeom prst="rect">
            <a:avLst/>
          </a:prstGeom>
          <a:solidFill>
            <a:srgbClr val="EEE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31A118-84A3-7F7F-A91F-623351F666C0}"/>
              </a:ext>
            </a:extLst>
          </p:cNvPr>
          <p:cNvCxnSpPr/>
          <p:nvPr/>
        </p:nvCxnSpPr>
        <p:spPr>
          <a:xfrm>
            <a:off x="10077040" y="5939069"/>
            <a:ext cx="0" cy="2387600"/>
          </a:xfrm>
          <a:prstGeom prst="line">
            <a:avLst/>
          </a:prstGeom>
          <a:ln w="88900">
            <a:gradFill flip="none" rotWithShape="1">
              <a:gsLst>
                <a:gs pos="0">
                  <a:srgbClr val="EEE5DA">
                    <a:lumMod val="100000"/>
                  </a:srgbClr>
                </a:gs>
                <a:gs pos="50000">
                  <a:srgbClr val="938B85"/>
                </a:gs>
                <a:gs pos="100000">
                  <a:srgbClr val="EEE5DA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499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22222E-6 L -0.29857 -0.5527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35" y="-2763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22222E-6 L 4.16667E-6 0.45533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7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11111E-6 L 1.25E-6 0.60347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16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-0.00455 0.56828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" y="2840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2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0"/>
                                        <p:tgtEl>
                                          <p:spTgt spid="2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2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2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Graphic spid="21" grpId="0" uiExpand="1">
        <p:bldSub>
          <a:bldChart bld="category"/>
        </p:bldSub>
      </p:bldGraphic>
      <p:bldP spid="22" grpId="0"/>
      <p:bldP spid="3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E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93FFE3-E53F-AC36-1C79-3377A2EB5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-6592848" y="2882794"/>
            <a:ext cx="25377696" cy="1877949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03821C7-2E2E-325B-8103-757F2BBCDD93}"/>
              </a:ext>
            </a:extLst>
          </p:cNvPr>
          <p:cNvSpPr/>
          <p:nvPr/>
        </p:nvSpPr>
        <p:spPr>
          <a:xfrm>
            <a:off x="0" y="-2"/>
            <a:ext cx="8180898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B32F5C-2968-6CFC-C5F6-21550420D920}"/>
              </a:ext>
            </a:extLst>
          </p:cNvPr>
          <p:cNvSpPr txBox="1"/>
          <p:nvPr/>
        </p:nvSpPr>
        <p:spPr>
          <a:xfrm>
            <a:off x="-329302" y="407213"/>
            <a:ext cx="860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Correzione</a:t>
            </a: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errori</a:t>
            </a: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con Reed-Solomon ECC</a:t>
            </a:r>
          </a:p>
        </p:txBody>
      </p:sp>
      <p:pic>
        <p:nvPicPr>
          <p:cNvPr id="6" name="Picture 5" descr="A cartoon of a child thinking&#10;&#10;AI-generated content may be incorrect.">
            <a:extLst>
              <a:ext uri="{FF2B5EF4-FFF2-40B4-BE49-F238E27FC236}">
                <a16:creationId xmlns:a16="http://schemas.microsoft.com/office/drawing/2014/main" id="{34FF13DB-07C6-D9A4-D9BD-8B1BD00F3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836" b="51563" l="62517" r="87282">
                        <a14:foregroundMark x1="85274" y1="36230" x2="85141" y2="34668"/>
                        <a14:foregroundMark x1="87149" y1="32129" x2="87416" y2="31934"/>
                        <a14:foregroundMark x1="87416" y1="31836" x2="87416" y2="31836"/>
                        <a14:foregroundMark x1="78983" y1="40332" x2="78313" y2="41602"/>
                        <a14:foregroundMark x1="78313" y1="41797" x2="78046" y2="42383"/>
                        <a14:foregroundMark x1="77912" y1="42676" x2="77778" y2="42969"/>
                        <a14:foregroundMark x1="72959" y1="40332" x2="72825" y2="40625"/>
                        <a14:foregroundMark x1="69076" y1="40918" x2="68675" y2="40527"/>
                        <a14:foregroundMark x1="72959" y1="44824" x2="73226" y2="45313"/>
                        <a14:foregroundMark x1="72825" y1="44727" x2="72557" y2="44238"/>
                        <a14:foregroundMark x1="65997" y1="48438" x2="65997" y2="49414"/>
                        <a14:foregroundMark x1="78581" y1="47656" x2="77778" y2="50195"/>
                        <a14:foregroundMark x1="62517" y1="39160" x2="62517" y2="38672"/>
                      </a14:backgroundRemoval>
                    </a14:imgEffect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965" t="29832" r="10143" b="45862"/>
          <a:stretch/>
        </p:blipFill>
        <p:spPr>
          <a:xfrm>
            <a:off x="8601531" y="1533727"/>
            <a:ext cx="3400659" cy="3790541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EB47C2C-07CC-3A31-7BDC-A745A0A0F8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5678058"/>
              </p:ext>
            </p:extLst>
          </p:nvPr>
        </p:nvGraphicFramePr>
        <p:xfrm>
          <a:off x="431800" y="1881363"/>
          <a:ext cx="7010400" cy="2720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E3CEAC0-1099-E775-0FB4-1F25270651D2}"/>
              </a:ext>
            </a:extLst>
          </p:cNvPr>
          <p:cNvSpPr txBox="1"/>
          <p:nvPr/>
        </p:nvSpPr>
        <p:spPr>
          <a:xfrm>
            <a:off x="99474" y="1082732"/>
            <a:ext cx="7981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25% </a:t>
            </a:r>
            <a:r>
              <a:rPr lang="en-US" sz="2000" b="1" u="sng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dei</a:t>
            </a:r>
            <a:r>
              <a:rPr lang="en-US" sz="2000" b="1" u="sng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</a:t>
            </a:r>
            <a:r>
              <a:rPr lang="en-US" sz="2000" b="1" u="sng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pacchetti</a:t>
            </a:r>
            <a:r>
              <a:rPr lang="en-US" sz="2000" b="1" u="sng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</a:t>
            </a:r>
            <a:r>
              <a:rPr lang="en-US" sz="2000" b="1" u="sng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ricevuti</a:t>
            </a:r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è </a:t>
            </a:r>
            <a:r>
              <a:rPr lang="en-US" sz="2000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scartato</a:t>
            </a:r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in </a:t>
            </a:r>
            <a:r>
              <a:rPr lang="en-US" sz="2000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condizioni</a:t>
            </a:r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normali</a:t>
            </a:r>
            <a:endParaRPr lang="en-US" sz="2000" dirty="0">
              <a:solidFill>
                <a:schemeClr val="bg1"/>
              </a:solidFill>
              <a:latin typeface="Segoe UI" panose="020B0502040204020203" pitchFamily="34" charset="0"/>
              <a:ea typeface="SF Pro Text" pitchFamily="50" charset="0"/>
              <a:cs typeface="Segoe UI" panose="020B0502040204020203" pitchFamily="34" charset="0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Dopo la </a:t>
            </a:r>
            <a:r>
              <a:rPr lang="en-US" sz="2000" b="1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correzione</a:t>
            </a:r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: 100% di </a:t>
            </a:r>
            <a:r>
              <a:rPr lang="en-US" sz="2000" b="1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pacchetti</a:t>
            </a:r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utilizzabili</a:t>
            </a:r>
            <a:endParaRPr lang="it-IT" sz="2000" b="1" dirty="0">
              <a:solidFill>
                <a:schemeClr val="bg1"/>
              </a:solidFill>
              <a:latin typeface="Segoe UI" panose="020B0502040204020203" pitchFamily="34" charset="0"/>
              <a:ea typeface="SF Pro Text" pitchFamily="50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64F0DB-FE3F-701E-ABC9-232A1F5B38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8850" r="43543"/>
          <a:stretch>
            <a:fillRect/>
          </a:stretch>
        </p:blipFill>
        <p:spPr>
          <a:xfrm>
            <a:off x="913998" y="5163143"/>
            <a:ext cx="6528202" cy="14603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0640AC-A37F-4BAA-F41B-575FDAB1D48D}"/>
              </a:ext>
            </a:extLst>
          </p:cNvPr>
          <p:cNvSpPr txBox="1"/>
          <p:nvPr/>
        </p:nvSpPr>
        <p:spPr>
          <a:xfrm>
            <a:off x="492436" y="4666842"/>
            <a:ext cx="73713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Bit flip patterns </a:t>
            </a:r>
            <a:r>
              <a:rPr lang="en-US" sz="2200" b="1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ricavati</a:t>
            </a:r>
            <a:r>
              <a:rPr lang="en-US" sz="22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sperimentalmente</a:t>
            </a:r>
            <a:endParaRPr lang="it-IT" sz="2200" b="1" dirty="0">
              <a:solidFill>
                <a:schemeClr val="bg1"/>
              </a:solidFill>
              <a:latin typeface="Segoe UI" panose="020B0502040204020203" pitchFamily="34" charset="0"/>
              <a:ea typeface="SF Pro Text" pitchFamily="50" charset="0"/>
              <a:cs typeface="Segoe UI" panose="020B0502040204020203" pitchFamily="34" charset="0"/>
            </a:endParaRPr>
          </a:p>
        </p:txBody>
      </p:sp>
      <p:pic>
        <p:nvPicPr>
          <p:cNvPr id="21" name="Immagine 4" descr="Immagine che contiene testo, mappa, schermata&#10;&#10;Descrizione generata automaticamente">
            <a:extLst>
              <a:ext uri="{FF2B5EF4-FFF2-40B4-BE49-F238E27FC236}">
                <a16:creationId xmlns:a16="http://schemas.microsoft.com/office/drawing/2014/main" id="{AD892F9E-8008-D370-BE46-969DC1E100C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" r="535"/>
          <a:stretch/>
        </p:blipFill>
        <p:spPr>
          <a:xfrm>
            <a:off x="182476" y="9311417"/>
            <a:ext cx="10119384" cy="29611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354759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uiExpand="1">
        <p:bldSub>
          <a:bldChart bld="category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4" descr="A cartoon of a person standing on a road next to a body of water&#10;&#10;AI-generated content may be incorrect.">
            <a:extLst>
              <a:ext uri="{FF2B5EF4-FFF2-40B4-BE49-F238E27FC236}">
                <a16:creationId xmlns:a16="http://schemas.microsoft.com/office/drawing/2014/main" id="{A91A3FC9-3BE1-DA8D-A154-03DA1F53A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88"/>
          <a:stretch>
            <a:fillRect/>
          </a:stretch>
        </p:blipFill>
        <p:spPr>
          <a:xfrm>
            <a:off x="-6610350" y="-262593"/>
            <a:ext cx="25027606" cy="10709952"/>
          </a:xfrm>
          <a:prstGeom prst="rect">
            <a:avLst/>
          </a:prstGeom>
        </p:spPr>
      </p:pic>
      <p:pic>
        <p:nvPicPr>
          <p:cNvPr id="3" name="Picture 2" descr="A cartoon of a child writing on a piece of paper&#10;&#10;AI-generated content may be incorrect.">
            <a:extLst>
              <a:ext uri="{FF2B5EF4-FFF2-40B4-BE49-F238E27FC236}">
                <a16:creationId xmlns:a16="http://schemas.microsoft.com/office/drawing/2014/main" id="{BD1E4FF4-66D5-556D-AA3C-A4E146AD99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0625" y1="66976" x2="40625" y2="66976"/>
                        <a14:foregroundMark x1="40509" y1="66976" x2="40509" y2="66976"/>
                        <a14:foregroundMark x1="43519" y1="55236" x2="43519" y2="55236"/>
                        <a14:foregroundMark x1="50810" y1="53632" x2="50810" y2="53632"/>
                        <a14:foregroundMark x1="51042" y1="53547" x2="51042" y2="53547"/>
                        <a14:foregroundMark x1="51273" y1="53716" x2="51273" y2="53716"/>
                        <a14:foregroundMark x1="50579" y1="53716" x2="50810" y2="54139"/>
                        <a14:foregroundMark x1="33449" y1="32601" x2="33449" y2="32601"/>
                        <a14:foregroundMark x1="32292" y1="37922" x2="32292" y2="37922"/>
                        <a14:foregroundMark x1="37616" y1="24831" x2="37616" y2="24831"/>
                        <a14:foregroundMark x1="37616" y1="24831" x2="37616" y2="24831"/>
                        <a14:foregroundMark x1="37616" y1="24831" x2="37616" y2="24831"/>
                        <a14:foregroundMark x1="37616" y1="25169" x2="37616" y2="25169"/>
                        <a14:foregroundMark x1="36921" y1="24409" x2="36806" y2="24324"/>
                        <a14:foregroundMark x1="36806" y1="24240" x2="36806" y2="24240"/>
                        <a14:foregroundMark x1="37963" y1="24578" x2="38542" y2="24916"/>
                        <a14:foregroundMark x1="33449" y1="32601" x2="34259" y2="32264"/>
                        <a14:foregroundMark x1="33681" y1="32432" x2="33218" y2="32686"/>
                        <a14:foregroundMark x1="33333" y1="32855" x2="33333" y2="32855"/>
                        <a14:foregroundMark x1="32986" y1="32939" x2="32986" y2="32939"/>
                        <a14:foregroundMark x1="34375" y1="32348" x2="34375" y2="32348"/>
                        <a14:foregroundMark x1="33912" y1="32179" x2="33912" y2="32179"/>
                        <a14:foregroundMark x1="32755" y1="37838" x2="32755" y2="37838"/>
                        <a14:foregroundMark x1="32523" y1="37669" x2="32407" y2="38260"/>
                        <a14:foregroundMark x1="32292" y1="38514" x2="32292" y2="38514"/>
                        <a14:foregroundMark x1="32176" y1="38598" x2="32176" y2="38598"/>
                        <a14:foregroundMark x1="31944" y1="38176" x2="31829" y2="38091"/>
                        <a14:foregroundMark x1="31829" y1="38007" x2="31829" y2="38007"/>
                        <a14:foregroundMark x1="32870" y1="37416" x2="33102" y2="37416"/>
                        <a14:foregroundMark x1="32060" y1="38514" x2="31829" y2="38345"/>
                        <a14:foregroundMark x1="75000" y1="21453" x2="73843" y2="22382"/>
                        <a14:foregroundMark x1="74769" y1="21622" x2="75116" y2="21537"/>
                        <a14:foregroundMark x1="75231" y1="21368" x2="75116" y2="21199"/>
                        <a14:foregroundMark x1="74884" y1="21199" x2="74884" y2="21199"/>
                        <a14:foregroundMark x1="73958" y1="21791" x2="73958" y2="21791"/>
                        <a14:foregroundMark x1="74306" y1="21959" x2="74306" y2="21959"/>
                        <a14:foregroundMark x1="73958" y1="22213" x2="73958" y2="22213"/>
                        <a14:foregroundMark x1="73843" y1="22213" x2="73843" y2="22213"/>
                        <a14:foregroundMark x1="73727" y1="22382" x2="73958" y2="22213"/>
                        <a14:foregroundMark x1="75347" y1="21791" x2="75347" y2="21537"/>
                        <a14:foregroundMark x1="75694" y1="21537" x2="75694" y2="21537"/>
                        <a14:foregroundMark x1="73611" y1="22297" x2="73611" y2="22297"/>
                        <a14:foregroundMark x1="37616" y1="24409" x2="37616" y2="24409"/>
                        <a14:foregroundMark x1="37731" y1="24324" x2="37731" y2="24324"/>
                        <a14:foregroundMark x1="37963" y1="24409" x2="37963" y2="24409"/>
                        <a14:foregroundMark x1="38310" y1="24493" x2="38310" y2="24493"/>
                        <a14:foregroundMark x1="39236" y1="25591" x2="39236" y2="25591"/>
                        <a14:foregroundMark x1="39005" y1="24916" x2="39005" y2="249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656" y="749300"/>
            <a:ext cx="6375743" cy="87371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2948EF-C163-BF8D-AD44-9BC092F1D58B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9" name="Immagine 4" descr="Immagine che contiene testo, mappa, schermata&#10;&#10;Descrizione generata automaticamente">
            <a:extLst>
              <a:ext uri="{FF2B5EF4-FFF2-40B4-BE49-F238E27FC236}">
                <a16:creationId xmlns:a16="http://schemas.microsoft.com/office/drawing/2014/main" id="{0DCFF8FD-00C7-973B-83EE-0493629239B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" r="535"/>
          <a:stretch/>
        </p:blipFill>
        <p:spPr>
          <a:xfrm>
            <a:off x="202332" y="3637303"/>
            <a:ext cx="10119384" cy="29611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18F1D1-B292-8393-B02A-1F0071282941}"/>
              </a:ext>
            </a:extLst>
          </p:cNvPr>
          <p:cNvSpPr txBox="1"/>
          <p:nvPr/>
        </p:nvSpPr>
        <p:spPr>
          <a:xfrm>
            <a:off x="0" y="407213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Caso </a:t>
            </a:r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reale</a:t>
            </a: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: range test e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studio </a:t>
            </a:r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della</a:t>
            </a: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copertura</a:t>
            </a: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in </a:t>
            </a:r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autodromo</a:t>
            </a: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a </a:t>
            </a:r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Varano</a:t>
            </a: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De’ </a:t>
            </a:r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Melegari</a:t>
            </a:r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4FBB8B-B0EC-3273-F6D4-DCCF681BCA38}"/>
              </a:ext>
            </a:extLst>
          </p:cNvPr>
          <p:cNvSpPr txBox="1"/>
          <p:nvPr/>
        </p:nvSpPr>
        <p:spPr>
          <a:xfrm>
            <a:off x="2105025" y="1596400"/>
            <a:ext cx="79819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Prove </a:t>
            </a:r>
            <a:r>
              <a:rPr lang="en-US" sz="2200" b="1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eseguite</a:t>
            </a:r>
            <a:r>
              <a:rPr lang="en-US" sz="22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in E-</a:t>
            </a:r>
            <a:r>
              <a:rPr lang="en-US" sz="2200" b="1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lectra</a:t>
            </a:r>
            <a:r>
              <a:rPr lang="en-US" sz="22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FDAD67-2177-B77E-46A2-14A1A39A1797}"/>
              </a:ext>
            </a:extLst>
          </p:cNvPr>
          <p:cNvSpPr txBox="1"/>
          <p:nvPr/>
        </p:nvSpPr>
        <p:spPr>
          <a:xfrm>
            <a:off x="1988224" y="2170162"/>
            <a:ext cx="9651325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Performance </a:t>
            </a:r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sostenute</a:t>
            </a:r>
            <a:r>
              <a:rPr lang="en-US" sz="22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per 900 </a:t>
            </a:r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metri</a:t>
            </a:r>
            <a:r>
              <a:rPr lang="en-US" sz="22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(</a:t>
            </a:r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rettilineo</a:t>
            </a:r>
            <a:r>
              <a:rPr lang="en-US" sz="22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, in LOS)</a:t>
            </a:r>
          </a:p>
          <a:p>
            <a:endParaRPr lang="en-US" sz="2200" b="1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Trasmissione</a:t>
            </a:r>
            <a:r>
              <a:rPr lang="en-US" sz="22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audio/video </a:t>
            </a:r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tra</a:t>
            </a:r>
            <a:r>
              <a:rPr lang="en-US" sz="22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le mura </a:t>
            </a:r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degli</a:t>
            </a:r>
            <a:r>
              <a:rPr lang="en-US" sz="22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2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uffici</a:t>
            </a:r>
            <a:r>
              <a:rPr lang="en-US" sz="22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(senza LOS)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C57B8986-7159-21C0-2541-5A221A5D48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94435" y="2117910"/>
            <a:ext cx="535390" cy="53539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A194AB2-91C5-A360-B8E1-9964BBFC06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94435" y="2801911"/>
            <a:ext cx="535390" cy="53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68966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4" descr="A cartoon of a person standing on a road next to a body of water&#10;&#10;AI-generated content may be incorrect.">
            <a:extLst>
              <a:ext uri="{FF2B5EF4-FFF2-40B4-BE49-F238E27FC236}">
                <a16:creationId xmlns:a16="http://schemas.microsoft.com/office/drawing/2014/main" id="{A91A3FC9-3BE1-DA8D-A154-03DA1F53A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88"/>
          <a:stretch>
            <a:fillRect/>
          </a:stretch>
        </p:blipFill>
        <p:spPr>
          <a:xfrm>
            <a:off x="-6610350" y="-1188006"/>
            <a:ext cx="18802350" cy="80460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2948EF-C163-BF8D-AD44-9BC092F1D58B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  <a:alpha val="50000"/>
            </a:schemeClr>
          </a:solidFill>
          <a:ln>
            <a:solidFill>
              <a:schemeClr val="bg1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9" name="Immagine 4" descr="Immagine che contiene testo, mappa, schermata&#10;&#10;Descrizione generata automaticamente">
            <a:extLst>
              <a:ext uri="{FF2B5EF4-FFF2-40B4-BE49-F238E27FC236}">
                <a16:creationId xmlns:a16="http://schemas.microsoft.com/office/drawing/2014/main" id="{0DCFF8FD-00C7-973B-83EE-0493629239B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" r="535"/>
          <a:stretch/>
        </p:blipFill>
        <p:spPr>
          <a:xfrm>
            <a:off x="240432" y="7819219"/>
            <a:ext cx="10119384" cy="29611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18F1D1-B292-8393-B02A-1F0071282941}"/>
              </a:ext>
            </a:extLst>
          </p:cNvPr>
          <p:cNvSpPr txBox="1"/>
          <p:nvPr/>
        </p:nvSpPr>
        <p:spPr>
          <a:xfrm>
            <a:off x="0" y="40721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Prestazioni</a:t>
            </a: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ottenute</a:t>
            </a:r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4FBB8B-B0EC-3273-F6D4-DCCF681BCA38}"/>
              </a:ext>
            </a:extLst>
          </p:cNvPr>
          <p:cNvSpPr txBox="1"/>
          <p:nvPr/>
        </p:nvSpPr>
        <p:spPr>
          <a:xfrm>
            <a:off x="2105025" y="1596400"/>
            <a:ext cx="798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In </a:t>
            </a:r>
            <a:r>
              <a:rPr lang="en-US" sz="2400" b="1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condizioni</a:t>
            </a:r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ottimali</a:t>
            </a:r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ea typeface="SF Pro Text" pitchFamily="50" charset="0"/>
                <a:cs typeface="Segoe UI" panose="020B0502040204020203" pitchFamily="34" charset="0"/>
              </a:rPr>
              <a:t> con 2 byte per ECC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FDAD67-2177-B77E-46A2-14A1A39A1797}"/>
              </a:ext>
            </a:extLst>
          </p:cNvPr>
          <p:cNvSpPr txBox="1"/>
          <p:nvPr/>
        </p:nvSpPr>
        <p:spPr>
          <a:xfrm>
            <a:off x="2919944" y="4680275"/>
            <a:ext cx="1984374" cy="892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Ping</a:t>
            </a:r>
          </a:p>
          <a:p>
            <a:pPr algn="ctr"/>
            <a:r>
              <a:rPr lang="en-US" sz="26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2-4 </a:t>
            </a:r>
            <a:r>
              <a:rPr lang="en-US" sz="26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ms</a:t>
            </a:r>
            <a:endParaRPr lang="en-US" sz="2600" b="1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8E5F7-AB28-ED1D-9B44-245B5544F4AE}"/>
              </a:ext>
            </a:extLst>
          </p:cNvPr>
          <p:cNvSpPr txBox="1"/>
          <p:nvPr/>
        </p:nvSpPr>
        <p:spPr>
          <a:xfrm>
            <a:off x="7695143" y="4680275"/>
            <a:ext cx="1984374" cy="129266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Iperf</a:t>
            </a:r>
            <a:endParaRPr lang="en-US" sz="2600" b="1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Segoe UI" panose="020B0502040204020203" pitchFamily="34" charset="0"/>
              <a:ea typeface="SF Pro Display" pitchFamily="50" charset="0"/>
              <a:cs typeface="Segoe UI" panose="020B0502040204020203" pitchFamily="34" charset="0"/>
            </a:endParaRPr>
          </a:p>
          <a:p>
            <a:pPr algn="ctr"/>
            <a:r>
              <a:rPr lang="en-US" sz="26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1.2 Mbps</a:t>
            </a:r>
          </a:p>
          <a:p>
            <a:pPr algn="ctr"/>
            <a:r>
              <a:rPr lang="en-US" sz="2600" b="1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Segoe UI" panose="020B0502040204020203" pitchFamily="34" charset="0"/>
                <a:ea typeface="SF Pro Display" pitchFamily="50" charset="0"/>
                <a:cs typeface="Segoe UI" panose="020B0502040204020203" pitchFamily="34" charset="0"/>
              </a:rPr>
              <a:t>Banda utile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F7B2FAE-110C-9471-DFC5-A1608FBA51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824262" y="2954139"/>
            <a:ext cx="1726136" cy="17261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82F993-BA64-A9B2-F07D-0B44F88EA484}"/>
              </a:ext>
            </a:extLst>
          </p:cNvPr>
          <p:cNvSpPr/>
          <p:nvPr/>
        </p:nvSpPr>
        <p:spPr>
          <a:xfrm>
            <a:off x="3049063" y="2954139"/>
            <a:ext cx="1726136" cy="1726136"/>
          </a:xfrm>
          <a:prstGeom prst="rect">
            <a:avLst/>
          </a:prstGeom>
          <a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1879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A55D0-2374-F443-0BD1-C7A5301EC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 err="1">
                <a:latin typeface="SF Pro Text" pitchFamily="50" charset="0"/>
                <a:ea typeface="SF Pro Text" pitchFamily="50" charset="0"/>
                <a:cs typeface="SF Pro Text" pitchFamily="50" charset="0"/>
              </a:rPr>
              <a:t>Applicazioni</a:t>
            </a:r>
            <a:r>
              <a:rPr lang="en-US" dirty="0">
                <a:latin typeface="SF Pro Text" pitchFamily="50" charset="0"/>
                <a:ea typeface="SF Pro Text" pitchFamily="50" charset="0"/>
                <a:cs typeface="SF Pro Text" pitchFamily="50" charset="0"/>
              </a:rPr>
              <a:t> </a:t>
            </a:r>
            <a:r>
              <a:rPr lang="en-US" dirty="0" err="1">
                <a:latin typeface="SF Pro Text" pitchFamily="50" charset="0"/>
                <a:ea typeface="SF Pro Text" pitchFamily="50" charset="0"/>
                <a:cs typeface="SF Pro Text" pitchFamily="50" charset="0"/>
              </a:rPr>
              <a:t>pratiche</a:t>
            </a:r>
            <a:endParaRPr lang="it-IT" dirty="0">
              <a:latin typeface="SF Pro Text" pitchFamily="50" charset="0"/>
              <a:ea typeface="SF Pro Text" pitchFamily="50" charset="0"/>
              <a:cs typeface="SF Pro Text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26CAEC-3853-C120-27F3-F8A5F47C86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717132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971255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1799</TotalTime>
  <Words>347</Words>
  <Application>Microsoft Office PowerPoint</Application>
  <PresentationFormat>Widescreen</PresentationFormat>
  <Paragraphs>104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Cascadia Code</vt:lpstr>
      <vt:lpstr>Grandview Display</vt:lpstr>
      <vt:lpstr>Segoe UI</vt:lpstr>
      <vt:lpstr>SF Pro Display</vt:lpstr>
      <vt:lpstr>SF Pro Text</vt:lpstr>
      <vt:lpstr>DashVTI</vt:lpstr>
      <vt:lpstr>Architettura Software per Ponti Radio</vt:lpstr>
      <vt:lpstr>Obiettivo della tesi</vt:lpstr>
      <vt:lpstr>Introduzione al problema</vt:lpstr>
      <vt:lpstr>Introduzione al problema</vt:lpstr>
      <vt:lpstr>Introduzione al problema</vt:lpstr>
      <vt:lpstr>Soluzione del problema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Applicazioni pratiche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Roccaccino</dc:creator>
  <cp:lastModifiedBy>localarocc</cp:lastModifiedBy>
  <cp:revision>21</cp:revision>
  <dcterms:created xsi:type="dcterms:W3CDTF">2025-10-29T09:08:10Z</dcterms:created>
  <dcterms:modified xsi:type="dcterms:W3CDTF">2026-02-22T23:37:50Z</dcterms:modified>
</cp:coreProperties>
</file>